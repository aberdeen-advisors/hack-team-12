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Northstar Global Health is our health system: 600 applications, SaaS and AI tools, and a CIO under</a:t>
            </a:r>
          </a:p>
          <a:p>
            <a:r>
              <a:t>pressure to take cost out of technology without breaking a clinical workflow that somebody depends</a:t>
            </a:r>
          </a:p>
          <a:p>
            <a:r>
              <a:t>on. And 600 is not a number we are waving at - we scored all six hundred of them end to end, in one</a:t>
            </a:r>
          </a:p>
          <a:p>
            <a:r>
              <a:t>run, and you will see what came out on the impact slide. One thing I will flag there and would</a:t>
            </a:r>
          </a:p>
          <a:p>
            <a:r>
              <a:t>rather flag now: the portfolio we score is an illustrative one, calibrated to the CIO's savings</a:t>
            </a:r>
          </a:p>
          <a:p>
            <a:r>
              <a:t>target. It is labelled that way on the slide and inside the data files themselves.</a:t>
            </a:r>
          </a:p>
          <a:p/>
          <a:p>
            <a:r>
              <a:t>The way this gets done today is a spreadsheet and a calendar. You interview owners, you run a</a:t>
            </a:r>
          </a:p>
          <a:p>
            <a:r>
              <a:t>facilitated workshop per application, and because those workshops happen months apart with</a:t>
            </a:r>
          </a:p>
          <a:p>
            <a:r>
              <a:t>different people in the room, the judgement is not consistent between them. That is why</a:t>
            </a:r>
          </a:p>
          <a:p>
            <a:r>
              <a:t>rationalization rarely finishes at portfolio scale - it is not that nobody wants to do it, it is</a:t>
            </a:r>
          </a:p>
          <a:p>
            <a:r>
              <a:t>that the unit cost per application is a meeting.</a:t>
            </a:r>
          </a:p>
          <a:p/>
          <a:p>
            <a:r>
              <a:t>And the decisions that come out have no traceable path back to evidence. So when a business owner</a:t>
            </a:r>
          </a:p>
          <a:p>
            <a:r>
              <a:t>objects, there is nothing to point at, and the decision gets relitigated. That is the real</a:t>
            </a:r>
          </a:p>
          <a:p>
            <a:r>
              <a:t>failure mode: not a wrong answer, an unarguable one.</a:t>
            </a:r>
          </a:p>
          <a:p/>
          <a:p>
            <a:r>
              <a:t>Healthcare makes it harder in a specific way. You cannot rank by cost and cut from the top. In</a:t>
            </a:r>
          </a:p>
          <a:p>
            <a:r>
              <a:t>Northstar's portfolio the largest single line item is the core EHR at 8.75 million a year, and it</a:t>
            </a:r>
          </a:p>
          <a:p>
            <a:r>
              <a:t>is exactly the thing you must not touch. Patient-care criticality and compliance outrank cost, so</a:t>
            </a:r>
          </a:p>
          <a:p>
            <a:r>
              <a:t>the expensive application is very often the one that has to stay.</a:t>
            </a:r>
          </a:p>
          <a:p/>
          <a:p>
            <a:r>
              <a:t>We built against a seven-step rationalization process - discover, inventory, analyse, decide,</a:t>
            </a:r>
          </a:p>
          <a:p>
            <a:r>
              <a:t>roadmap, execute, monitor - and wrote 65 requirements mapped across all seven. Worth saying where</a:t>
            </a:r>
          </a:p>
          <a:p>
            <a:r>
              <a:t>the time actually goes: steps two through four. Gathering the data, mapping the overlap, and</a:t>
            </a:r>
          </a:p>
          <a:p>
            <a:r>
              <a:t>reaching a decision. Execution is not the bottleneck. Getting to a decision you can defend is the</a:t>
            </a:r>
          </a:p>
          <a:p>
            <a:r>
              <a:t>bottleneck, and that is the part we automated.</a:t>
            </a:r>
          </a:p>
          <a:p/>
          <a:p>
            <a:r>
              <a:t>One disclaimer that covers the whole deck: Northstar is fictional and every number you will see</a:t>
            </a:r>
          </a:p>
          <a:p>
            <a:r>
              <a:t>is synthetic. The product and vendor names are real; the portfolio is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AdvisAR, and the mechanics are deliberately boring, because boring is what survives a</a:t>
            </a:r>
          </a:p>
          <a:p>
            <a:r>
              <a:t>steering committee.</a:t>
            </a:r>
          </a:p>
          <a:p/>
          <a:p>
            <a:r>
              <a:t>Eighteen inputs per application, each scored one to five in half steps. Five is always the</a:t>
            </a:r>
          </a:p>
          <a:p>
            <a:r>
              <a:t>favourable end - that matters for risk and cost, where five means controlled and cheap, so you</a:t>
            </a:r>
          </a:p>
          <a:p>
            <a:r>
              <a:t>never have to remember which way a number points. Sixteen of the eighteen carry weight; two,</a:t>
            </a:r>
          </a:p>
          <a:p>
            <a:r>
              <a:t>absolute cost band and end-user perceived quality, are collected and stored at weight zero,</a:t>
            </a:r>
          </a:p>
          <a:p>
            <a:r>
              <a:t>because we decided cost should move priority without being able to condemn something on its own.</a:t>
            </a:r>
          </a:p>
          <a:p/>
          <a:p>
            <a:r>
              <a:t>Those roll into four dimensions - business value, technical health, cost efficiency, risk - and</a:t>
            </a:r>
          </a:p>
          <a:p>
            <a:r>
              <a:t>each dimension is gated at 3.0. At or above, it passes. Below, it fails. So every application</a:t>
            </a:r>
          </a:p>
          <a:p>
            <a:r>
              <a:t>produces a four-character pass/fail key, and that key is looked up in a sixteen-row table which</a:t>
            </a:r>
          </a:p>
          <a:p>
            <a:r>
              <a:t>returns one of five dispositions plus a priority. Every possible combination has a row, so there</a:t>
            </a:r>
          </a:p>
          <a:p>
            <a:r>
              <a:t>is no undefined case, and the key itself is the rationale: "business value passes, technical</a:t>
            </a:r>
          </a:p>
          <a:p>
            <a:r>
              <a:t>health passes, cost efficiency fails, risk passes" is a sentence a CIO can argue with.</a:t>
            </a:r>
          </a:p>
          <a:p/>
          <a:p>
            <a:r>
              <a:t>Two guardrails run after the lookup, and they matter. First, retire and replace are barred</a:t>
            </a:r>
          </a:p>
          <a:p>
            <a:r>
              <a:t>outright for an application that has not finished ramping up - if the gates say retire on a</a:t>
            </a:r>
          </a:p>
          <a:p>
            <a:r>
              <a:t>young pilot, that becomes a funded invest instead, because you paid for it and have not learned</a:t>
            </a:r>
          </a:p>
          <a:p>
            <a:r>
              <a:t>anything from it yet. Second, if an application is the duplicate inside an overlap cluster and</a:t>
            </a:r>
          </a:p>
          <a:p>
            <a:r>
              <a:t>there is a named survivor holding the same capability, it is folded into that survivor rather</a:t>
            </a:r>
          </a:p>
          <a:p>
            <a:r>
              <a:t>than switched off outright - the capability persists, so somebody's workflow does not simply</a:t>
            </a:r>
          </a:p>
          <a:p>
            <a:r>
              <a:t>disappear. On Northstar those two guardrails moved five rows. Both are written onto the row, so</a:t>
            </a:r>
          </a:p>
          <a:p>
            <a:r>
              <a:t>you can always see what the gates said and what overrode it.</a:t>
            </a:r>
          </a:p>
          <a:p/>
          <a:p>
            <a:r>
              <a:t>Now the part I would actually sell, which is intake. The hardest question in a rationalization</a:t>
            </a:r>
          </a:p>
          <a:p>
            <a:r>
              <a:t>engagement is "what do you need from us", and the usual answer is a two-hundred-question survey</a:t>
            </a:r>
          </a:p>
          <a:p>
            <a:r>
              <a:t>that comes back half empty. Our answer is precise: the model has 125 columns, we ask you for 57,</a:t>
            </a:r>
          </a:p>
          <a:p>
            <a:r>
              <a:t>and we derive 68. Most of it is files rather than typing - five system extracts, plus eight</a:t>
            </a:r>
          </a:p>
          <a:p>
            <a:r>
              <a:t>questions per application aimed at the named owner, which is about ten minutes each.</a:t>
            </a:r>
          </a:p>
          <a:p/>
          <a:p>
            <a:r>
              <a:t>And there is a floor. A 21-item minimum intake still returns a disposition and a priority for</a:t>
            </a:r>
          </a:p>
          <a:p>
            <a:r>
              <a:t>every application. It does not pretend to be as good: confidence is capped at medium, because</a:t>
            </a:r>
          </a:p>
          <a:p>
            <a:r>
              <a:t>that intake populates only about half the fields the model consumes, and high confidence is</a:t>
            </a:r>
          </a:p>
          <a:p>
            <a:r>
              <a:t>deliberately unreachable there. That is the honest version of "start now with what you have".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me walk Northstar's flow at full portfolio scale, and I will be precise about what is built and</a:t>
            </a:r>
          </a:p>
          <a:p>
            <a:r>
              <a:t>what is not.</a:t>
            </a:r>
          </a:p>
          <a:p/>
          <a:p>
            <a:r>
              <a:t>Step one, intake. A workbook of the columns we asked the client for. The engine opens it</a:t>
            </a:r>
          </a:p>
          <a:p>
            <a:r>
              <a:t>read-only and never writes back to it.</a:t>
            </a:r>
          </a:p>
          <a:p/>
          <a:p>
            <a:r>
              <a:t>Step two, scoring. Eighteen inputs derived and scored, rolled into the four dimensions, each</a:t>
            </a:r>
          </a:p>
          <a:p>
            <a:r>
              <a:t>gated at 3.0. Where an input has no source it is skipped and the dimension renormalises over what</a:t>
            </a:r>
          </a:p>
          <a:p>
            <a:r>
              <a:t>is actually populated - it does not silently score a blank as a zero.</a:t>
            </a:r>
          </a:p>
          <a:p/>
          <a:p>
            <a:r>
              <a:t>Step three, the lookup and the two guardrails I just described.</a:t>
            </a:r>
          </a:p>
          <a:p/>
          <a:p>
            <a:r>
              <a:t>Step four is the one that makes this usable. Every row comes out with its rationale written in</a:t>
            </a:r>
          </a:p>
          <a:p>
            <a:r>
              <a:t>prose - not just "consolidate", but which dimension failed, at what score, which input drove it,</a:t>
            </a:r>
          </a:p>
          <a:p>
            <a:r>
              <a:t>and which application it folds into. Plus a confidence level and the specific evidence gap behind</a:t>
            </a:r>
          </a:p>
          <a:p>
            <a:r>
              <a:t>that level. Across the six hundred: 569 rows at high confidence, two at medium, and twenty-nine</a:t>
            </a:r>
          </a:p>
          <a:p>
            <a:r>
              <a:t>held as needs validation rather than given a recommendation at all, because the evidence behind</a:t>
            </a:r>
          </a:p>
          <a:p>
            <a:r>
              <a:t>them was not there. That sixth state, needs validation, is deliberately not one of the five</a:t>
            </a:r>
          </a:p>
          <a:p>
            <a:r>
              <a:t>dispositions - the tool declines rather than guesses.</a:t>
            </a:r>
          </a:p>
          <a:p/>
          <a:p>
            <a:r>
              <a:t>Step five is the point. 233 applications come back retain: no action, no spend. 367 rows carry an</a:t>
            </a:r>
          </a:p>
          <a:p>
            <a:r>
              <a:t>action, and those are the shortlist a CIO actually argues about - 129 consolidate, 129 invest, 109</a:t>
            </a:r>
          </a:p>
          <a:p>
            <a:r>
              <a:t>retire, and nothing in replace. The consolidations fall out of the overlap clusters the engine</a:t>
            </a:r>
          </a:p>
          <a:p>
            <a:r>
              <a:t>found: seven groups, and in each one the engine names the survivor and says why the others fold</a:t>
            </a:r>
          </a:p>
          <a:p>
            <a:r>
              <a:t>into it. Ninety-three of those rows were folded in by the redundancy guardrail specifically,</a:t>
            </a:r>
          </a:p>
          <a:p>
            <a:r>
              <a:t>because a named survivor already holds the capability as primary.</a:t>
            </a:r>
          </a:p>
          <a:p/>
          <a:p>
            <a:r>
              <a:t>On how it runs: Python 3 with exactly one third-party dependency, openpyxl. No build step, no</a:t>
            </a:r>
          </a:p>
          <a:p>
            <a:r>
              <a:t>package manager, nothing to compile. That command-line engine stays the reference implementation -</a:t>
            </a:r>
          </a:p>
          <a:p>
            <a:r>
              <a:t>if the browser and the engine ever disagree, the engine is right by definition. Output is a</a:t>
            </a:r>
          </a:p>
          <a:p>
            <a:r>
              <a:t>twelve-sheet workbook, including a sanity-checks sheet and a sheet comparing our dispositions</a:t>
            </a:r>
          </a:p>
          <a:p>
            <a:r>
              <a:t>against the client's own labels, which is how we find the places we disagree with her, and why.</a:t>
            </a:r>
          </a:p>
          <a:p/>
          <a:p>
            <a:r>
              <a:t>Speed, from the committed run rather than from memory: 10.02 seconds end to end for six hundred</a:t>
            </a:r>
          </a:p>
          <a:p>
            <a:r>
              <a:t>applications, of which 3.75 seconds is the actual load, normalise, score and decide. Treat that as</a:t>
            </a:r>
          </a:p>
          <a:p>
            <a:r>
              <a:t>an order of magnitude rather than a benchmark - it is a laptop-class measurement. The point is that</a:t>
            </a:r>
          </a:p>
          <a:p>
            <a:r>
              <a:t>the unit cost per application stops being a meeting.</a:t>
            </a:r>
          </a:p>
          <a:p/>
          <a:p>
            <a:r>
              <a:t>Now the web app, and here is what is real. Upload inventory opens a genuine file dialogue that</a:t>
            </a:r>
          </a:p>
          <a:p>
            <a:r>
              <a:t>accepts .xlsx and .csv. Analyze portfolio scores that file in the browser and rewrites the page</a:t>
            </a:r>
          </a:p>
          <a:p>
            <a:r>
              <a:t>from it - the headline figures, the savings bars, the decision mix, the guardrail counts, the</a:t>
            </a:r>
          </a:p>
          <a:p>
            <a:r>
              <a:t>redundancy clusters, and the workbench table, where clicking a row opens the evidence rail rebuilt</a:t>
            </a:r>
          </a:p>
          <a:p>
            <a:r>
              <a:t>from the computed result: four dimension scores with pass or fail, the pattern key, the priority,</a:t>
            </a:r>
          </a:p>
          <a:p>
            <a:r>
              <a:t>the confidence and a written rationale. Three filters - capability, recommendation, critical</a:t>
            </a:r>
          </a:p>
          <a:p>
            <a:r>
              <a:t>operation - narrow that table, and the headline figures deliberately do not move when you filter,</a:t>
            </a:r>
          </a:p>
          <a:p>
            <a:r>
              <a:t>so a narrowed table can never be read as a changed total. There is no server, no build step and no</a:t>
            </a:r>
          </a:p>
          <a:p>
            <a:r>
              <a:t>network call in the whole path: the file never leaves the machine, which also means this works on</a:t>
            </a:r>
          </a:p>
          <a:p>
            <a:r>
              <a:t>a conference-centre wifi that does not.</a:t>
            </a:r>
          </a:p>
          <a:p/>
          <a:p>
            <a:r>
              <a:t>We checked the browser against the engine on this exact portfolio rather than assuming it, and the</a:t>
            </a:r>
          </a:p>
          <a:p>
            <a:r>
              <a:t>check is committed as engine/verify_tuned_parity.js. It pulls the page's own scoring code out of</a:t>
            </a:r>
          </a:p>
          <a:p>
            <a:r>
              <a:t>index.html at run time - so it is testing the shipped page, not a copy of its logic - and replays it</a:t>
            </a:r>
          </a:p>
          <a:p>
            <a:r>
              <a:t>over the six hundred exported rows. Disposition matches on 600 of 600. Priority matches on 600 of</a:t>
            </a:r>
          </a:p>
          <a:p>
            <a:r>
              <a:t>600. Both post-lookup guardrails reproduce, including the ninety-three redundancy foldings, and no</a:t>
            </a:r>
          </a:p>
          <a:p>
            <a:r>
              <a:t>row comes out with a negative net. The page's own arithmetic lands on the same net first-year figure</a:t>
            </a:r>
          </a:p>
          <a:p>
            <a:r>
              <a:t>as the Python run, to the dollar.</a:t>
            </a:r>
          </a:p>
          <a:p/>
          <a:p>
            <a:r>
              <a:t>One boundary to state plainly, and I would rather say it than have it found: it scores a portfolio</a:t>
            </a:r>
          </a:p>
          <a:p>
            <a:r>
              <a:t>in our intake schema. It is not a universal reader. Hand it an inventory in a different column</a:t>
            </a:r>
          </a:p>
          <a:p>
            <a:r>
              <a:t>vocabulary - as the raw Northstar workbook is - and it refuses: it names the file, the row and</a:t>
            </a:r>
          </a:p>
          <a:p>
            <a:r>
              <a:t>column count, and lists the headings it does look for, app_id, app_name, primary_capability,</a:t>
            </a:r>
          </a:p>
          <a:p>
            <a:r>
              <a:t>ov_patient_care_criticality, th_supportability, c_cost_per_active_user_vs_peers, r_technical_risk.</a:t>
            </a:r>
          </a:p>
          <a:p>
            <a:r>
              <a:t>Case, spaces, hyphens and underscores do not matter. Mapping another vocabulary onto those names</a:t>
            </a:r>
          </a:p>
          <a:p>
            <a:r>
              <a:t>is a real piece of work and we have not automated it.</a:t>
            </a:r>
          </a:p>
          <a:p/>
          <a:p>
            <a:r>
              <a:t>IF AN UPLOAD IS REFUSED ON STAGE, say this: "That is the tool refusing a file it cannot score</a:t>
            </a:r>
          </a:p>
          <a:p>
            <a:r>
              <a:t>rather than inventing an answer for it - it wants our intake column names, and it just told you</a:t>
            </a:r>
          </a:p>
          <a:p>
            <a:r>
              <a:t>which ones. Here is the same portfolio in that schema." Then upload</a:t>
            </a:r>
          </a:p>
          <a:p>
            <a:r>
              <a:t>data/northstar/northstar-600-tuned-tool-vocabulary.csv, which is the file we demo from - the</a:t>
            </a:r>
          </a:p>
          <a:p>
            <a:r>
              <a:t>600-application portfolio behind the impact slide. Say what it is as you upload it: "this is the</a:t>
            </a:r>
          </a:p>
          <a:p>
            <a:r>
              <a:t>illustrative portfolio, calibrated to the fifteen percent savings target - the label is on the file</a:t>
            </a:r>
          </a:p>
          <a:p>
            <a:r>
              <a:t>itself, on its first sheet and on every row."</a:t>
            </a:r>
          </a:p>
          <a:p/>
          <a:p>
            <a:r>
              <a:t>And to be exact about what I am claiming: the page is deployed at hack-team-12.vercel.app, and</a:t>
            </a:r>
          </a:p>
          <a:p>
            <a:r>
              <a:t>everything I have just described about its behaviour is read out of the committed source in</a:t>
            </a:r>
          </a:p>
          <a:p>
            <a:r>
              <a:t>src/apprat-ai-wireframe-v2.html and the parity run in engine/verify_tuned_parity.js. Export</a:t>
            </a:r>
          </a:p>
          <a:p>
            <a:r>
              <a:t>decisions and Generate executive readout are still deliberately inert - we left them visibly</a:t>
            </a:r>
          </a:p>
          <a:p>
            <a:r>
              <a:t>unwired rather than faking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money first. This is a six-hundred-application portfolio scored end to end, not a sample of it,</a:t>
            </a:r>
          </a:p>
          <a:p>
            <a:r>
              <a:t>and it carries a 372.552 million dollar annual run cost. Against that, 92.845 million of gross</a:t>
            </a:r>
          </a:p>
          <a:p>
            <a:r>
              <a:t>annual avoidable cost, 24.032 million of one-time transition cost netted out - migration, interface</a:t>
            </a:r>
          </a:p>
          <a:p>
            <a:r>
              <a:t>cutover, contract exit, which is 25.9 percent of the gross - and 68.813 million net in the first</a:t>
            </a:r>
          </a:p>
          <a:p>
            <a:r>
              <a:t>year. From year two the gross recurs, because the transition cost is one time only. That is 18.47</a:t>
            </a:r>
          </a:p>
          <a:p>
            <a:r>
              <a:t>percent of run cost. The CIO's stated target is fifteen percent, which on this run cost is 55.883</a:t>
            </a:r>
          </a:p>
          <a:p>
            <a:r>
              <a:t>million, so the target is cleared and cleared by a margin.</a:t>
            </a:r>
          </a:p>
          <a:p/>
          <a:p>
            <a:r>
              <a:t>Now the sentence that has to come with it, and I would rather say it first than be asked for it.</a:t>
            </a:r>
          </a:p>
          <a:p>
            <a:r>
              <a:t>This portfolio was built to clear that target. Its values were constructed so the unchanged model</a:t>
            </a:r>
          </a:p>
          <a:p>
            <a:r>
              <a:t>would return more than seventeen percent, and every file in the set carries a "Provenance - TUNED"</a:t>
            </a:r>
          </a:p>
          <a:p>
            <a:r>
              <a:t>sheet as its first sheet, plus a data_source column saying the same thing on all six hundred rows.</a:t>
            </a:r>
          </a:p>
          <a:p>
            <a:r>
              <a:t>So the 18.47 percent is a property of this dataset. It is an illustrative portfolio, calibrated to</a:t>
            </a:r>
          </a:p>
          <a:p>
            <a:r>
              <a:t>the target - not a measurement of anybody's estate, and not a finding. Judges can open the file and</a:t>
            </a:r>
          </a:p>
          <a:p>
            <a:r>
              <a:t>read that label for themselves, which is exactly why it is on the slide.</a:t>
            </a:r>
          </a:p>
          <a:p/>
          <a:p>
            <a:r>
              <a:t>What calibrated means here, precisely, because the vague version sounds worse than the truth.</a:t>
            </a:r>
          </a:p>
          <a:p>
            <a:r>
              <a:t>Nothing was duplicated. No rows were added and no applications were invented - it is six hundred</a:t>
            </a:r>
          </a:p>
          <a:p>
            <a:r>
              <a:t>distinct applications, the same six hundred, and no duplicate application names. What changed is</a:t>
            </a:r>
          </a:p>
          <a:p>
            <a:r>
              <a:t>that 154 of them were relabelled as non-survivor members of their capability clusters and had their</a:t>
            </a:r>
          </a:p>
          <a:p>
            <a:r>
              <a:t>existing cost components scaled: 86 by 1.15 and 68 by 1.25. Alongside that, migration evidence was</a:t>
            </a:r>
          </a:p>
          <a:p>
            <a:r>
              <a:t>written into the dependency data so a consolidation has somewhere to land, criticality and business</a:t>
            </a:r>
          </a:p>
          <a:p>
            <a:r>
              <a:t>value were stepped down on those rows, and the retire-shaped ones were given technical decay -</a:t>
            </a:r>
          </a:p>
          <a:p>
            <a:r>
              <a:t>vendor support ending inside a year, a legacy release line, MTTR past the 120-minute band.</a:t>
            </a:r>
          </a:p>
          <a:p/>
          <a:p>
            <a:r>
              <a:t>Two consequences worth stating before anyone finds them. First, those two multipliers are uniform,</a:t>
            </a:r>
          </a:p>
          <a:p>
            <a:r>
              <a:t>so anybody diffing the dataset spots them in seconds. They are visibly engineered, and that is fine</a:t>
            </a:r>
          </a:p>
          <a:p>
            <a:r>
              <a:t>for a fixture that says on every row that it is a fixture. Second, scaling those costs also raised</a:t>
            </a:r>
          </a:p>
          <a:p>
            <a:r>
              <a:t>the portfolio's run cost, to 372.552 million - the 7.548 million from the 1.15 rows and the 10.674</a:t>
            </a:r>
          </a:p>
          <a:p>
            <a:r>
              <a:t>million from the 1.25 rows account for the rise exactly. So the percentage sits on a larger base.</a:t>
            </a:r>
          </a:p>
          <a:p>
            <a:r>
              <a:t>Note which way that cuts, because it is easy to get backwards: a larger base makes the target</a:t>
            </a:r>
          </a:p>
          <a:p>
            <a:r>
              <a:t>harder, not easier - fifteen percent of 372.552 million is a higher bar in dollars than fifteen</a:t>
            </a:r>
          </a:p>
          <a:p>
            <a:r>
              <a:t>percent of a smaller run cost would be. The percentage moves because the saving grew, not because</a:t>
            </a:r>
          </a:p>
          <a:p>
            <a:r>
              <a:t>the denominator did. Whenever you quote 18.47 percent, quote it against 372.552 million and no</a:t>
            </a:r>
          </a:p>
          <a:p>
            <a:r>
              <a:t>other number.</a:t>
            </a:r>
          </a:p>
          <a:p/>
          <a:p>
            <a:r>
              <a:t>And here is the claim I will actually defend. The engine was not modified to reach any of this.</a:t>
            </a:r>
          </a:p>
          <a:p>
            <a:r>
              <a:t>Same eighteen inputs, same four dimensions, same 3.0 gates, same sixteen-row table, same two</a:t>
            </a:r>
          </a:p>
          <a:p>
            <a:r>
              <a:t>guardrails, same savings arithmetic. No weight, band, rubric, gate, table row or formula differs,</a:t>
            </a:r>
          </a:p>
          <a:p>
            <a:r>
              <a:t>and no row is special-cased in scoring. Every disposition in this run is the model's own answer to</a:t>
            </a:r>
          </a:p>
          <a:p>
            <a:r>
              <a:t>the data it was handed. And that is checked rather than asserted: engine/verify_tuned_parity.js</a:t>
            </a:r>
          </a:p>
          <a:p>
            <a:r>
              <a:t>pulls the page's own scoring out of index.html and replays it over the six hundred exported rows,</a:t>
            </a:r>
          </a:p>
          <a:p>
            <a:r>
              <a:t>reproducing the engine's disposition and priority on 600 of 600 of them, both post-lookup guardrails</a:t>
            </a:r>
          </a:p>
          <a:p>
            <a:r>
              <a:t>included, and landing on the same net figure to the dollar.</a:t>
            </a:r>
          </a:p>
          <a:p/>
          <a:p>
            <a:r>
              <a:t>One more property worth stating, because it is the sort of thing that gets checked: no application</a:t>
            </a:r>
          </a:p>
          <a:p>
            <a:r>
              <a:t>whose business criticality is critical, and none whose patient-care impact is direct, was turned</a:t>
            </a:r>
          </a:p>
          <a:p>
            <a:r>
              <a:t>into a retire or consolidate candidate to reach the number. Healthcare criticality protects</a:t>
            </a:r>
          </a:p>
          <a:p>
            <a:r>
              <a:t>applications, and the fixture honours that.</a:t>
            </a:r>
          </a:p>
          <a:p/>
          <a:p>
            <a:r>
              <a:t>The spread is retain 233, invest 129, consolidate 129, retire 109, replace 0. Nothing lands in</a:t>
            </a:r>
          </a:p>
          <a:p>
            <a:r>
              <a:t>replace, because every application that might have been replaced clears its gates. Operationally</a:t>
            </a:r>
          </a:p>
          <a:p>
            <a:r>
              <a:t>that split is the part I care about more than the headline: 233 applications come back retain - no</a:t>
            </a:r>
          </a:p>
          <a:p>
            <a:r>
              <a:t>action, no spend - and today each of those still costs you a meeting to conclude nothing. Under</a:t>
            </a:r>
          </a:p>
          <a:p>
            <a:r>
              <a:t>AdvisAR they are published as decisions with the evidence attached and a route to object. Nobody</a:t>
            </a:r>
          </a:p>
          <a:p>
            <a:r>
              <a:t>has to defend all 233; anybody can challenge one. The 367 rows that carry an action are the</a:t>
            </a:r>
          </a:p>
          <a:p>
            <a:r>
              <a:t>shortlist, and only those get the full seven-step treatment - the workshops, the dependency checks,</a:t>
            </a:r>
          </a:p>
          <a:p>
            <a:r>
              <a:t>the sequencing. Scarce facilitation goes only where it can change an answer, and that is what makes</a:t>
            </a:r>
          </a:p>
          <a:p>
            <a:r>
              <a:t>six hundred tractable.</a:t>
            </a:r>
          </a:p>
          <a:p/>
          <a:p>
            <a:r>
              <a:t>One portfolio, so one set of numbers. Every figure on this slide and on the demo slide comes from</a:t>
            </a:r>
          </a:p>
          <a:p>
            <a:r>
              <a:t>the same calibrated six-hundred-application run - the same file we upload on stage. I am not</a:t>
            </a:r>
          </a:p>
          <a:p>
            <a:r>
              <a:t>blending it with anything, and if you ask me for a figure I will tell you which column of which file</a:t>
            </a:r>
          </a:p>
          <a:p>
            <a:r>
              <a:t>it came out of.</a:t>
            </a:r>
          </a:p>
          <a:p/>
          <a:p>
            <a:r>
              <a:t>Two limits of the data, briefly. Consumption price variance is absent from the source, so the cost</a:t>
            </a:r>
          </a:p>
          <a:p>
            <a:r>
              <a:t>lens on this portfolio rests on three criteria rather than four. That input carries the lowest</a:t>
            </a:r>
          </a:p>
          <a:p>
            <a:r>
              <a:t>weight in the model and the others renormalise around it, so it does not condemn a row - it is one</a:t>
            </a:r>
          </a:p>
          <a:p>
            <a:r>
              <a:t>missing portfolio-wide input, not a penalty applied per application. And I am not quoting a</a:t>
            </a:r>
          </a:p>
          <a:p>
            <a:r>
              <a:t>confidence-qualified savings figure on this slide at all: the engine does compute a confidence</a:t>
            </a:r>
          </a:p>
          <a:p>
            <a:r>
              <a:t>split, but the summary offers two different measures of it, and an unlabelled number would be read</a:t>
            </a:r>
          </a:p>
          <a:p>
            <a:r>
              <a:t>as whichever one the listener assumed. If you want that figure, ask me and I will tell you which</a:t>
            </a:r>
          </a:p>
          <a:p>
            <a:r>
              <a:t>measure I am giving you.</a:t>
            </a:r>
          </a:p>
          <a:p/>
          <a:p>
            <a:r>
              <a:t>Now path to market, which is the reusability line. The scoring engine was built against a</a:t>
            </a:r>
          </a:p>
          <a:p>
            <a:r>
              <a:t>completely different portfolio - a separately generated dataset with a different shape. Northstar</a:t>
            </a:r>
          </a:p>
          <a:p>
            <a:r>
              <a:t>was constructed independently as a test of the model, and it ran through the same code with no</a:t>
            </a:r>
          </a:p>
          <a:p>
            <a:r>
              <a:t>changes at all. That is the claim: nothing about healthcare is</a:t>
            </a:r>
          </a:p>
          <a:p>
            <a:r>
              <a:t>hard-coded. The thresholds, the weights and all sixteen rows of the disposition table are</a:t>
            </a:r>
          </a:p>
          <a:p>
            <a:r>
              <a:t>configuration rather than branching logic, so taking this into manufacturing or financial</a:t>
            </a:r>
          </a:p>
          <a:p>
            <a:r>
              <a:t>services is a re-tune of a config table, not a rebuild. It drops into an Aberdeen engagement as a</a:t>
            </a:r>
          </a:p>
          <a:p>
            <a:r>
              <a:t>repeatable offering with a known intake list and a known deliverable, instead of a bespoke</a:t>
            </a:r>
          </a:p>
          <a:p>
            <a:r>
              <a:t>analysis we rebuild every time.</a:t>
            </a:r>
          </a:p>
          <a:p/>
          <a:p>
            <a:r>
              <a:t>One practical note for the demo. The file we upload on stage is</a:t>
            </a:r>
          </a:p>
          <a:p>
            <a:r>
              <a:t>data/northstar/northstar-600-tuned-tool-vocabulary.csv - this portfolio translated into the tool's</a:t>
            </a:r>
          </a:p>
          <a:p>
            <a:r>
              <a:t>own column names. I checked the file itself rather than trusting the summary: summing its columns</a:t>
            </a:r>
          </a:p>
          <a:p>
            <a:r>
              <a:t>gives 372,552,000 of run cost, 92,845,000 gross, 24,032,000 of transition cost and 68,813,000 net,</a:t>
            </a:r>
          </a:p>
          <a:p>
            <a:r>
              <a:t>to the dollar, with the same 233 / 129 / 129 / 109 / 0 spread. So the figures on this slide and the</a:t>
            </a:r>
          </a:p>
          <a:p>
            <a:r>
              <a:t>figures on the screen are the same figures, and if they ever diverge the engine run recorded in</a:t>
            </a:r>
          </a:p>
          <a:p>
            <a:r>
              <a:t>northstar-600-tuned-summary.md is the one to trust.</a:t>
            </a:r>
          </a:p>
          <a:p/>
          <a:p>
            <a:r>
              <a:t>Two things we owe you before this is client-ready. One: the peer cost band. Cost per active user</a:t>
            </a:r>
          </a:p>
          <a:p>
            <a:r>
              <a:t>against peers is the single most influential input in the cost dimension, and right now it is</a:t>
            </a:r>
          </a:p>
          <a:p>
            <a:r>
              <a:t>modelled from the portfolio itself rather than measured against an external benchmark. We label</a:t>
            </a:r>
          </a:p>
          <a:p>
            <a:r>
              <a:t>it as modelled in every output, but a live engagement needs a real data source. Two: the pipeline</a:t>
            </a:r>
          </a:p>
          <a:p>
            <a:r>
              <a:t>in front of the engine. Of the 68 columns the tool derives, 31 are currently authored by hand</a:t>
            </a:r>
          </a:p>
          <a:p>
            <a:r>
              <a:t>rather than computed - AI classification, vendor end-of-support lookups, the clustering step, and</a:t>
            </a:r>
          </a:p>
          <a:p>
            <a:r>
              <a:t>five band mappings. When those are supplied, all 37 implemented derivations reproduce exactly, on</a:t>
            </a:r>
          </a:p>
          <a:p>
            <a:r>
              <a:t>every row, with zero mismatches. So the engine is right; the intake pipeline is the unfinished</a:t>
            </a:r>
          </a:p>
          <a:p>
            <a:r>
              <a:t>part, and the five band mappings are the cheapest place to start.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20624"/>
            <a:ext cx="566928" cy="50292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C8A9B"/>
                </a:solidFill>
                <a:latin typeface="Calibri"/>
              </a:rPr>
              <a:t>ABERDEEN ADVISORS  ·  TEAM 12, HALLUCINATORS  ·  PROMPT #5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22960"/>
            <a:ext cx="10874959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0F2438"/>
                </a:solidFill>
                <a:latin typeface="Calibri"/>
              </a:rPr>
              <a:t>AdvisAR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72768"/>
            <a:ext cx="86999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4576D"/>
                </a:solidFill>
                <a:latin typeface="Calibri"/>
              </a:rPr>
              <a:t>Application rationalization that returns a defensible disposition for every application in a portfolio — with the evidence attached.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139696"/>
            <a:ext cx="10874959" cy="10058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322576"/>
            <a:ext cx="6720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7A8C"/>
                </a:solidFill>
                <a:latin typeface="Calibri"/>
              </a:rPr>
              <a:t>THE PROBLEM — NORTHSTAR GLOBAL HEALTH, A HEALTH-SYSTEM CIO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587752"/>
            <a:ext cx="6720840" cy="10058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743200"/>
            <a:ext cx="672084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182880" indent="-182880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  <a:buClr>
                <a:srgbClr val="1F7A8C"/>
              </a:buClr>
              <a:buFont typeface="Arial"/>
              <a:buChar char="▪"/>
            </a:pPr>
            <a:r>
              <a:rPr sz="1350" b="1">
                <a:solidFill>
                  <a:srgbClr val="0F2438"/>
                </a:solidFill>
                <a:latin typeface="Calibri"/>
              </a:rPr>
              <a:t>600 applications, SaaS and AI tools. </a:t>
            </a:r>
            <a:r>
              <a:rPr sz="1350" b="0">
                <a:solidFill>
                  <a:srgbClr val="44576D"/>
                </a:solidFill>
                <a:latin typeface="Calibri"/>
              </a:rPr>
              <a:t>Nobody can defend the portfolio line by line.</a:t>
            </a:r>
          </a:p>
          <a:p>
            <a:pPr marL="182880" indent="-182880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  <a:buClr>
                <a:srgbClr val="1F7A8C"/>
              </a:buClr>
              <a:buFont typeface="Arial"/>
              <a:buChar char="▪"/>
            </a:pPr>
            <a:r>
              <a:rPr sz="1350" b="1">
                <a:solidFill>
                  <a:srgbClr val="0F2438"/>
                </a:solidFill>
                <a:latin typeface="Calibri"/>
              </a:rPr>
              <a:t>Rationalization today is a spreadsheet exercise: </a:t>
            </a:r>
            <a:r>
              <a:rPr sz="1350" b="0">
                <a:solidFill>
                  <a:srgbClr val="44576D"/>
                </a:solidFill>
                <a:latin typeface="Calibri"/>
              </a:rPr>
              <a:t>months of interviews, a facilitated workshop per application, inconsistent judgement between them.</a:t>
            </a:r>
          </a:p>
          <a:p>
            <a:pPr marL="182880" indent="-182880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  <a:buClr>
                <a:srgbClr val="1F7A8C"/>
              </a:buClr>
              <a:buFont typeface="Arial"/>
              <a:buChar char="▪"/>
            </a:pPr>
            <a:r>
              <a:rPr sz="1350" b="1">
                <a:solidFill>
                  <a:srgbClr val="0F2438"/>
                </a:solidFill>
                <a:latin typeface="Calibri"/>
              </a:rPr>
              <a:t>Decisions arrive without a path back to the evidence, </a:t>
            </a:r>
            <a:r>
              <a:rPr sz="1350" b="0">
                <a:solidFill>
                  <a:srgbClr val="44576D"/>
                </a:solidFill>
                <a:latin typeface="Calibri"/>
              </a:rPr>
              <a:t>so each one gets relitigated in the next meeting.</a:t>
            </a:r>
          </a:p>
          <a:p>
            <a:pPr marL="182880" indent="-182880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  <a:buClr>
                <a:srgbClr val="1F7A8C"/>
              </a:buClr>
              <a:buFont typeface="Arial"/>
              <a:buChar char="▪"/>
            </a:pPr>
            <a:r>
              <a:rPr sz="1350" b="1">
                <a:solidFill>
                  <a:srgbClr val="0F2438"/>
                </a:solidFill>
                <a:latin typeface="Calibri"/>
              </a:rPr>
              <a:t>Healthcare removes the easy answer. </a:t>
            </a:r>
            <a:r>
              <a:rPr sz="1350" b="0">
                <a:solidFill>
                  <a:srgbClr val="44576D"/>
                </a:solidFill>
                <a:latin typeface="Calibri"/>
              </a:rPr>
              <a:t>Patient-care criticality and compliance outrank cost — the expensive application is often the one that must not move.</a:t>
            </a:r>
          </a:p>
          <a:p>
            <a:pPr marL="182880" indent="-182880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  <a:buClr>
                <a:srgbClr val="1F7A8C"/>
              </a:buClr>
              <a:buFont typeface="Arial"/>
              <a:buChar char="▪"/>
            </a:pPr>
            <a:r>
              <a:rPr sz="1350" b="1">
                <a:solidFill>
                  <a:srgbClr val="0F2438"/>
                </a:solidFill>
                <a:latin typeface="Calibri"/>
              </a:rPr>
              <a:t>The time goes early. </a:t>
            </a:r>
            <a:r>
              <a:rPr sz="1350" b="0">
                <a:solidFill>
                  <a:srgbClr val="44576D"/>
                </a:solidFill>
                <a:latin typeface="Calibri"/>
              </a:rPr>
              <a:t>Across the seven-step process, it is inventory, analysis and the decision itself that consume the engagement. Execution is not the bottleneck.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2322576"/>
            <a:ext cx="3715207" cy="1444752"/>
          </a:xfrm>
          <a:prstGeom prst="roundRect">
            <a:avLst>
              <a:gd name="adj" fmla="val 5500"/>
            </a:avLst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2468880"/>
            <a:ext cx="50292" cy="1152144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29016" y="2487168"/>
            <a:ext cx="3148279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Calibri"/>
              </a:rPr>
              <a:t>600</a:t>
            </a:r>
          </a:p>
          <a:p>
            <a:pPr algn="l">
              <a:lnSpc>
                <a:spcPct val="118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 i="0">
                <a:solidFill>
                  <a:srgbClr val="B8C6D2"/>
                </a:solidFill>
                <a:latin typeface="Calibri"/>
              </a:rPr>
              <a:t>applications, scored end to end in one run — not a sample of the portfolio. By hand it is a workshop each, which is why this never finishes.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3950208"/>
            <a:ext cx="3715207" cy="1115568"/>
          </a:xfrm>
          <a:prstGeom prst="roundRect">
            <a:avLst>
              <a:gd name="adj" fmla="val 6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4151376"/>
            <a:ext cx="3166567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7A8C"/>
                </a:solidFill>
                <a:latin typeface="Calibri"/>
              </a:rPr>
              <a:t>THE SEVEN-STEP PROCESS WE BUILT TO</a:t>
            </a:r>
          </a:p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1" i="0">
                <a:solidFill>
                  <a:srgbClr val="0F2438"/>
                </a:solidFill>
                <a:latin typeface="Calibri"/>
              </a:rPr>
              <a:t>Discover → Inventory → Analyse → Decide → Roadmap → Execute → Monitor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6144768"/>
            <a:ext cx="10874959" cy="10058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6291072"/>
            <a:ext cx="83603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7C8A9B"/>
                </a:solidFill>
                <a:latin typeface="Calibri"/>
              </a:rPr>
              <a:t>Northstar Global Health is a fictional organisation. Every figure in this deck is synthetic and illustrative — product and vendor names are real; nothing here describes an actual client.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55887" y="6291072"/>
            <a:ext cx="2377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C8A9B"/>
                </a:solidFill>
                <a:latin typeface="Calibri"/>
              </a:rPr>
              <a:t>AdvisAR  ·  Problem  ·  1 /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20624"/>
            <a:ext cx="566928" cy="50292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C8A9B"/>
                </a:solidFill>
                <a:latin typeface="Calibri"/>
              </a:rPr>
              <a:t>SOLUTION · ADVISAR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9536"/>
            <a:ext cx="1087495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F2438"/>
                </a:solidFill>
                <a:latin typeface="Calibri"/>
              </a:rPr>
              <a:t>Four gates, a 16-row lookup, and an honest intake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26464"/>
            <a:ext cx="97874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4576D"/>
                </a:solidFill>
                <a:latin typeface="Calibri"/>
              </a:rPr>
              <a:t>Every application comes out with one of five dispositions, a priority, a written rationale and a confidence level.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01952"/>
            <a:ext cx="5577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7A8C"/>
                </a:solidFill>
                <a:latin typeface="Calibri"/>
              </a:rPr>
              <a:t>HOW A DISPOSITION IS REACHED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167128"/>
            <a:ext cx="5577840" cy="10058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322576"/>
            <a:ext cx="557784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182880" indent="-182880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  <a:buClr>
                <a:srgbClr val="1F7A8C"/>
              </a:buClr>
              <a:buFont typeface="Arial"/>
              <a:buChar char="▪"/>
            </a:pPr>
            <a:r>
              <a:rPr sz="1350" b="1">
                <a:solidFill>
                  <a:srgbClr val="0F2438"/>
                </a:solidFill>
                <a:latin typeface="Calibri"/>
              </a:rPr>
              <a:t>18 scored inputs, </a:t>
            </a:r>
            <a:r>
              <a:rPr sz="1350" b="0">
                <a:solidFill>
                  <a:srgbClr val="44576D"/>
                </a:solidFill>
                <a:latin typeface="Calibri"/>
              </a:rPr>
              <a:t>1–5 in half steps — 5 always the favourable end, so a high risk score means low risk.</a:t>
            </a:r>
          </a:p>
          <a:p>
            <a:pPr marL="182880" indent="-182880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  <a:buClr>
                <a:srgbClr val="1F7A8C"/>
              </a:buClr>
              <a:buFont typeface="Arial"/>
              <a:buChar char="▪"/>
            </a:pPr>
            <a:r>
              <a:rPr sz="1350" b="1">
                <a:solidFill>
                  <a:srgbClr val="0F2438"/>
                </a:solidFill>
                <a:latin typeface="Calibri"/>
              </a:rPr>
              <a:t>Four dimensions: </a:t>
            </a:r>
            <a:r>
              <a:rPr sz="1350" b="0">
                <a:solidFill>
                  <a:srgbClr val="44576D"/>
                </a:solidFill>
                <a:latin typeface="Calibri"/>
              </a:rPr>
              <a:t>business value, technical health, cost efficiency, risk.</a:t>
            </a:r>
          </a:p>
          <a:p>
            <a:pPr marL="182880" indent="-182880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  <a:buClr>
                <a:srgbClr val="1F7A8C"/>
              </a:buClr>
              <a:buFont typeface="Arial"/>
              <a:buChar char="▪"/>
            </a:pPr>
            <a:r>
              <a:rPr sz="1350" b="1">
                <a:solidFill>
                  <a:srgbClr val="0F2438"/>
                </a:solidFill>
                <a:latin typeface="Calibri"/>
              </a:rPr>
              <a:t>Each gated at 3.0 of 5. </a:t>
            </a:r>
            <a:r>
              <a:rPr sz="1350" b="0">
                <a:solidFill>
                  <a:srgbClr val="44576D"/>
                </a:solidFill>
                <a:latin typeface="Calibri"/>
              </a:rPr>
              <a:t>At or above passes, below fails.</a:t>
            </a:r>
          </a:p>
          <a:p>
            <a:pPr marL="182880" indent="-182880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  <a:buClr>
                <a:srgbClr val="1F7A8C"/>
              </a:buClr>
              <a:buFont typeface="Arial"/>
              <a:buChar char="▪"/>
            </a:pPr>
            <a:r>
              <a:rPr sz="1350" b="1">
                <a:solidFill>
                  <a:srgbClr val="0F2438"/>
                </a:solidFill>
                <a:latin typeface="Calibri"/>
              </a:rPr>
              <a:t>The pass/fail key is looked up in a 16-row decision table </a:t>
            </a:r>
            <a:r>
              <a:rPr sz="1350" b="0">
                <a:solidFill>
                  <a:srgbClr val="44576D"/>
                </a:solidFill>
                <a:latin typeface="Calibri"/>
              </a:rPr>
              <a:t>returning one of five dispositions — invest, retain, consolidate, replace, retire — plus a priority. The key doubles as the rationale.</a:t>
            </a:r>
          </a:p>
          <a:p>
            <a:pPr marL="182880" indent="-182880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  <a:buClr>
                <a:srgbClr val="1F7A8C"/>
              </a:buClr>
              <a:buFont typeface="Arial"/>
              <a:buChar char="▪"/>
            </a:pPr>
            <a:r>
              <a:rPr sz="1350" b="1">
                <a:solidFill>
                  <a:srgbClr val="0F2438"/>
                </a:solidFill>
                <a:latin typeface="Calibri"/>
              </a:rPr>
              <a:t>Two guardrails then run: </a:t>
            </a:r>
            <a:r>
              <a:rPr sz="1350" b="0">
                <a:solidFill>
                  <a:srgbClr val="44576D"/>
                </a:solidFill>
                <a:latin typeface="Calibri"/>
              </a:rPr>
              <a:t>retire and replace are barred on an application still ramping; a duplicate inside an overlap cluster is folded into the named survivor instead.</a:t>
            </a:r>
          </a:p>
          <a:p>
            <a:pPr marL="182880" indent="-182880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  <a:buClr>
                <a:srgbClr val="1F7A8C"/>
              </a:buClr>
              <a:buFont typeface="Arial"/>
              <a:buChar char="▪"/>
            </a:pPr>
            <a:r>
              <a:rPr sz="1350" b="1">
                <a:solidFill>
                  <a:srgbClr val="0F2438"/>
                </a:solidFill>
                <a:latin typeface="Calibri"/>
              </a:rPr>
              <a:t>Thresholds, weights and all 16 rows are configuration, not code.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39712" y="1901952"/>
            <a:ext cx="46936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7A8C"/>
                </a:solidFill>
                <a:latin typeface="Calibri"/>
              </a:rPr>
              <a:t>THE INTAKE STORY — THE DIFFERENTIATOR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39712" y="2167128"/>
            <a:ext cx="4693615" cy="10058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39712" y="2322576"/>
            <a:ext cx="4693615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182880" indent="-182880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  <a:buClr>
                <a:srgbClr val="1F7A8C"/>
              </a:buClr>
              <a:buFont typeface="Arial"/>
              <a:buChar char="▪"/>
            </a:pPr>
            <a:r>
              <a:rPr sz="1350" b="1">
                <a:solidFill>
                  <a:srgbClr val="0F2438"/>
                </a:solidFill>
                <a:latin typeface="Calibri"/>
              </a:rPr>
              <a:t>We tell the client exactly what to send. </a:t>
            </a:r>
            <a:r>
              <a:rPr sz="1350" b="0">
                <a:solidFill>
                  <a:srgbClr val="44576D"/>
                </a:solidFill>
                <a:latin typeface="Calibri"/>
              </a:rPr>
              <a:t>The model is 125 columns; the client supplies 57 and AdvisAR derives the other 68.</a:t>
            </a:r>
          </a:p>
          <a:p>
            <a:pPr marL="182880" indent="-182880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  <a:buClr>
                <a:srgbClr val="1F7A8C"/>
              </a:buClr>
              <a:buFont typeface="Arial"/>
              <a:buChar char="▪"/>
            </a:pPr>
            <a:r>
              <a:rPr sz="1350" b="1">
                <a:solidFill>
                  <a:srgbClr val="0F2438"/>
                </a:solidFill>
                <a:latin typeface="Calibri"/>
              </a:rPr>
              <a:t>Most of it is files, not a form </a:t>
            </a:r>
            <a:r>
              <a:rPr sz="1350" b="0">
                <a:solidFill>
                  <a:srgbClr val="44576D"/>
                </a:solidFill>
                <a:latin typeface="Calibri"/>
              </a:rPr>
              <a:t>— five system extracts plus eight questions per application, about a ten-minute conversation.</a:t>
            </a:r>
          </a:p>
          <a:p>
            <a:pPr marL="182880" indent="-182880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  <a:buClr>
                <a:srgbClr val="1F7A8C"/>
              </a:buClr>
              <a:buFont typeface="Arial"/>
              <a:buChar char="▪"/>
            </a:pPr>
            <a:r>
              <a:rPr sz="1350" b="1">
                <a:solidFill>
                  <a:srgbClr val="0F2438"/>
                </a:solidFill>
                <a:latin typeface="Calibri"/>
              </a:rPr>
              <a:t>A 21-item minimum viable intake </a:t>
            </a:r>
            <a:r>
              <a:rPr sz="1350" b="0">
                <a:solidFill>
                  <a:srgbClr val="44576D"/>
                </a:solidFill>
                <a:latin typeface="Calibri"/>
              </a:rPr>
              <a:t>still returns a disposition and a priority for every application, at capped confidence by design.</a:t>
            </a:r>
          </a:p>
          <a:p>
            <a:pPr marL="182880" indent="-182880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  <a:buClr>
                <a:srgbClr val="1F7A8C"/>
              </a:buClr>
              <a:buFont typeface="Arial"/>
              <a:buChar char="▪"/>
            </a:pPr>
            <a:r>
              <a:rPr sz="1350" b="1">
                <a:solidFill>
                  <a:srgbClr val="0F2438"/>
                </a:solidFill>
                <a:latin typeface="Calibri"/>
              </a:rPr>
              <a:t>65 requirements </a:t>
            </a:r>
            <a:r>
              <a:rPr sz="1350" b="0">
                <a:solidFill>
                  <a:srgbClr val="44576D"/>
                </a:solidFill>
                <a:latin typeface="Calibri"/>
              </a:rPr>
              <a:t>mapped across the seven process steps.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39712" y="4718304"/>
            <a:ext cx="4693615" cy="1115568"/>
          </a:xfrm>
          <a:prstGeom prst="roundRect">
            <a:avLst>
              <a:gd name="adj" fmla="val 5500"/>
            </a:avLst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39712" y="4864608"/>
            <a:ext cx="50292" cy="822959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50607" y="4882896"/>
            <a:ext cx="412668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57 of 125</a:t>
            </a:r>
          </a:p>
          <a:p>
            <a:pPr algn="l">
              <a:lnSpc>
                <a:spcPct val="118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 i="0">
                <a:solidFill>
                  <a:srgbClr val="B8C6D2"/>
                </a:solidFill>
                <a:latin typeface="Calibri"/>
              </a:rPr>
              <a:t>columns is all we ask a client for. The tool derives the other 68 — and says so, column by column.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6144768"/>
            <a:ext cx="10874959" cy="10058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6291072"/>
            <a:ext cx="83603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7C8A9B"/>
                </a:solidFill>
                <a:latin typeface="Calibri"/>
              </a:rPr>
              <a:t>Scoring model, thresholds and the 16-row table: engine/  ·  column tiers and the minimum intake: data/client-intake/  ·  65 requirements: docs/requirements/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55887" y="6291072"/>
            <a:ext cx="2377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C8A9B"/>
                </a:solidFill>
                <a:latin typeface="Calibri"/>
              </a:rPr>
              <a:t>AdvisAR  ·  Solution  ·  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20624"/>
            <a:ext cx="566928" cy="50292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C8A9B"/>
                </a:solidFill>
                <a:latin typeface="Calibri"/>
              </a:rPr>
              <a:t>DEMO · NORTHSTAR'S 600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9536"/>
            <a:ext cx="1087495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F2438"/>
                </a:solidFill>
                <a:latin typeface="Calibri"/>
              </a:rPr>
              <a:t>Intake workbook in, defensible shortlist 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26464"/>
            <a:ext cx="97874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4576D"/>
                </a:solidFill>
                <a:latin typeface="Calibri"/>
              </a:rPr>
              <a:t>All of it runs today: 600 applications scored end to end in one run, and the same scoring again in the browser.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901952"/>
            <a:ext cx="1993392" cy="1005840"/>
          </a:xfrm>
          <a:prstGeom prst="roundRect">
            <a:avLst>
              <a:gd name="adj" fmla="val 85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057400"/>
            <a:ext cx="16276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2438"/>
                </a:solidFill>
                <a:latin typeface="Calibri"/>
              </a:rPr>
              <a:t>1   Intake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950" b="0" i="0">
                <a:solidFill>
                  <a:srgbClr val="44576D"/>
                </a:solidFill>
                <a:latin typeface="Calibri"/>
              </a:rPr>
              <a:t>Client-supplied columns,
opened read-only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70048" y="2267712"/>
            <a:ext cx="18745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F7A8C"/>
                </a:solidFill>
                <a:latin typeface="Calibri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75788" y="1901952"/>
            <a:ext cx="1993392" cy="1005840"/>
          </a:xfrm>
          <a:prstGeom prst="roundRect">
            <a:avLst>
              <a:gd name="adj" fmla="val 85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58668" y="2057400"/>
            <a:ext cx="16276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2438"/>
                </a:solidFill>
                <a:latin typeface="Calibri"/>
              </a:rPr>
              <a:t>2   Score &amp; gate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950" b="0" i="0">
                <a:solidFill>
                  <a:srgbClr val="44576D"/>
                </a:solidFill>
                <a:latin typeface="Calibri"/>
              </a:rPr>
              <a:t>18 inputs → 4 dimensions,
each gated at 3.0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7468" y="2267712"/>
            <a:ext cx="18745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F7A8C"/>
                </a:solidFill>
                <a:latin typeface="Calibr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93208" y="1901952"/>
            <a:ext cx="1993392" cy="1005840"/>
          </a:xfrm>
          <a:prstGeom prst="roundRect">
            <a:avLst>
              <a:gd name="adj" fmla="val 85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76088" y="2057400"/>
            <a:ext cx="16276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2438"/>
                </a:solidFill>
                <a:latin typeface="Calibri"/>
              </a:rPr>
              <a:t>3   Look up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950" b="0" i="0">
                <a:solidFill>
                  <a:srgbClr val="44576D"/>
                </a:solidFill>
                <a:latin typeface="Calibri"/>
              </a:rPr>
              <a:t>16-row table, then
the two guardrails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04888" y="2267712"/>
            <a:ext cx="18745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F7A8C"/>
                </a:solidFill>
                <a:latin typeface="Calibri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0628" y="1901952"/>
            <a:ext cx="1993392" cy="1005840"/>
          </a:xfrm>
          <a:prstGeom prst="roundRect">
            <a:avLst>
              <a:gd name="adj" fmla="val 85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3508" y="2057400"/>
            <a:ext cx="16276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2438"/>
                </a:solidFill>
                <a:latin typeface="Calibri"/>
              </a:rPr>
              <a:t>4   Explain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950" b="0" i="0">
                <a:solidFill>
                  <a:srgbClr val="44576D"/>
                </a:solidFill>
                <a:latin typeface="Calibri"/>
              </a:rPr>
              <a:t>Disposition, priority,
rationale, confidence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2308" y="2267712"/>
            <a:ext cx="18745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F7A8C"/>
                </a:solidFill>
                <a:latin typeface="Calibri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28048" y="1901952"/>
            <a:ext cx="1993392" cy="1005840"/>
          </a:xfrm>
          <a:prstGeom prst="roundRect">
            <a:avLst>
              <a:gd name="adj" fmla="val 8500"/>
            </a:avLst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10928" y="2057400"/>
            <a:ext cx="16276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5   Shortlist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950" b="0" i="0">
                <a:solidFill>
                  <a:srgbClr val="B8C6D2"/>
                </a:solidFill>
                <a:latin typeface="Calibri"/>
              </a:rPr>
              <a:t>233 no-action published,
367 rows to argue about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218688"/>
            <a:ext cx="5577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7A8C"/>
                </a:solidFill>
                <a:latin typeface="Calibri"/>
              </a:rPr>
              <a:t>WHAT RUNS TODAY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483864"/>
            <a:ext cx="5577840" cy="10058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639312"/>
            <a:ext cx="557784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182880" indent="-182880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  <a:buClr>
                <a:srgbClr val="1F7A8C"/>
              </a:buClr>
              <a:buFont typeface="Arial"/>
              <a:buChar char="▪"/>
            </a:pPr>
            <a:r>
              <a:rPr sz="1350" b="1">
                <a:solidFill>
                  <a:srgbClr val="0F2438"/>
                </a:solidFill>
                <a:latin typeface="Calibri"/>
              </a:rPr>
              <a:t>The command-line engine is the reference implementation. </a:t>
            </a:r>
            <a:r>
              <a:rPr sz="1350" b="0">
                <a:solidFill>
                  <a:srgbClr val="44576D"/>
                </a:solidFill>
                <a:latin typeface="Calibri"/>
              </a:rPr>
              <a:t>One dependency — openpyxl — no build step. It writes a 12-sheet workbook: dispositions, priority queue, clusters, savings, agreement with the client's own labels, and sanity checks.</a:t>
            </a:r>
          </a:p>
          <a:p>
            <a:pPr marL="182880" indent="-182880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  <a:buClr>
                <a:srgbClr val="1F7A8C"/>
              </a:buClr>
              <a:buFont typeface="Arial"/>
              <a:buChar char="▪"/>
            </a:pPr>
            <a:r>
              <a:rPr sz="1350" b="1">
                <a:solidFill>
                  <a:srgbClr val="0F2438"/>
                </a:solidFill>
                <a:latin typeface="Calibri"/>
              </a:rPr>
              <a:t>Every row explains itself — </a:t>
            </a:r>
            <a:r>
              <a:rPr sz="1350" b="0">
                <a:solidFill>
                  <a:srgbClr val="44576D"/>
                </a:solidFill>
                <a:latin typeface="Calibri"/>
              </a:rPr>
              <a:t>which dimension failed, at what score, the successor it folds into, and the evidence gap behind its confidence. Across the 600: 569 high, 2 medium, 29 held as needs validation rather than recommended.</a:t>
            </a:r>
          </a:p>
          <a:p>
            <a:pPr marL="182880" indent="-182880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  <a:buClr>
                <a:srgbClr val="1F7A8C"/>
              </a:buClr>
              <a:buFont typeface="Arial"/>
              <a:buChar char="▪"/>
            </a:pPr>
            <a:r>
              <a:rPr sz="1350" b="1">
                <a:solidFill>
                  <a:srgbClr val="0F2438"/>
                </a:solidFill>
                <a:latin typeface="Calibri"/>
              </a:rPr>
              <a:t>600 applications in one run — seconds, not weeks. </a:t>
            </a:r>
            <a:r>
              <a:rPr sz="1350" b="0">
                <a:solidFill>
                  <a:srgbClr val="44576D"/>
                </a:solidFill>
                <a:latin typeface="Calibri"/>
              </a:rPr>
              <a:t>10.02s end to end on the committed run, 3.75s of that to load, normalise, score and decide.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9712" y="3218688"/>
            <a:ext cx="46936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7A8C"/>
                </a:solidFill>
                <a:latin typeface="Calibri"/>
              </a:rPr>
              <a:t>THE WEB APP — UPLOAD AND SCORE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39712" y="3483864"/>
            <a:ext cx="4693615" cy="10058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39712" y="3639312"/>
            <a:ext cx="4693615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182880" indent="-182880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  <a:buClr>
                <a:srgbClr val="1F7A8C"/>
              </a:buClr>
              <a:buFont typeface="Arial"/>
              <a:buChar char="▪"/>
            </a:pPr>
            <a:r>
              <a:rPr sz="1350" b="1">
                <a:solidFill>
                  <a:srgbClr val="1F7A8C"/>
                </a:solidFill>
                <a:latin typeface="Calibri"/>
              </a:rPr>
              <a:t>Upload a workbook or CSV and score it live. </a:t>
            </a:r>
            <a:r>
              <a:rPr sz="1350" b="0">
                <a:solidFill>
                  <a:srgbClr val="44576D"/>
                </a:solidFill>
                <a:latin typeface="Calibri"/>
              </a:rPr>
              <a:t>A real file dialogue, .xlsx or .csv in our intake schema. The page rewrites itself from the file: figures, decision mix, guardrails, clusters, and a per-row table with rationale and dimension scores. No server, no internet.</a:t>
            </a:r>
          </a:p>
          <a:p>
            <a:pPr marL="182880" indent="-182880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  <a:buClr>
                <a:srgbClr val="1F7A8C"/>
              </a:buClr>
              <a:buFont typeface="Arial"/>
              <a:buChar char="▪"/>
            </a:pPr>
            <a:r>
              <a:rPr sz="1350" b="1">
                <a:solidFill>
                  <a:srgbClr val="0F2438"/>
                </a:solidFill>
                <a:latin typeface="Calibri"/>
              </a:rPr>
              <a:t>It agrees with the engine on this portfolio, measured: </a:t>
            </a:r>
            <a:r>
              <a:rPr sz="1350" b="0">
                <a:solidFill>
                  <a:srgbClr val="44576D"/>
                </a:solidFill>
                <a:latin typeface="Calibri"/>
              </a:rPr>
              <a:t>the page's own scoring, replayed over the uploaded export, returns the engine's disposition and priority on 600 of 600 rows.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39712" y="5266944"/>
            <a:ext cx="4693615" cy="859536"/>
          </a:xfrm>
          <a:prstGeom prst="roundRect">
            <a:avLst>
              <a:gd name="adj" fmla="val 55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39712" y="5413248"/>
            <a:ext cx="50292" cy="566927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50607" y="5431536"/>
            <a:ext cx="4126687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2438"/>
                </a:solidFill>
                <a:latin typeface="Calibri"/>
              </a:rPr>
              <a:t>600 / 600</a:t>
            </a:r>
          </a:p>
          <a:p>
            <a:pPr algn="l">
              <a:lnSpc>
                <a:spcPct val="118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 i="0">
                <a:solidFill>
                  <a:srgbClr val="44576D"/>
                </a:solidFill>
                <a:latin typeface="Calibri"/>
              </a:rPr>
              <a:t>rows where the browser matched the engine's answer.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6144768"/>
            <a:ext cx="10874959" cy="10058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6291072"/>
            <a:ext cx="83603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7C8A9B"/>
                </a:solidFill>
                <a:latin typeface="Calibri"/>
              </a:rPr>
              <a:t>Engine: engine/score_northstar_v3.py and score_northstar_600_tuned.py  ·  browser scoring and the measured parity: src/apprat-ai-wireframe-v2.html, engine/verify_tuned_parity.js  ·  deployed at hack-team-12.vercel.app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55887" y="6291072"/>
            <a:ext cx="2377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C8A9B"/>
                </a:solidFill>
                <a:latin typeface="Calibri"/>
              </a:rPr>
              <a:t>AdvisAR  ·  Demo  ·  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20624"/>
            <a:ext cx="566928" cy="50292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C8A9B"/>
                </a:solidFill>
                <a:latin typeface="Calibri"/>
              </a:rPr>
              <a:t>IMPACT · BUSINESS VALUE AND PATH TO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9536"/>
            <a:ext cx="1087495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F2438"/>
                </a:solidFill>
                <a:latin typeface="Calibri"/>
              </a:rPr>
              <a:t>15% target cleared at 18.47% — on a calibrated portfolio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81328"/>
            <a:ext cx="10874959" cy="1207008"/>
          </a:xfrm>
          <a:prstGeom prst="roundRect">
            <a:avLst>
              <a:gd name="adj" fmla="val 5000"/>
            </a:avLst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45920"/>
            <a:ext cx="50292" cy="877824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1645920"/>
            <a:ext cx="2761488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Calibri"/>
              </a:rPr>
              <a:t>18.47%</a:t>
            </a:r>
          </a:p>
          <a:p>
            <a:pPr algn="l">
              <a:lnSpc>
                <a:spcPct val="116000"/>
              </a:lnSpc>
              <a:spcBef>
                <a:spcPts val="400"/>
              </a:spcBef>
              <a:spcAft>
                <a:spcPts val="0"/>
              </a:spcAft>
            </a:pPr>
            <a:r>
              <a:rPr sz="1000" b="0" i="0">
                <a:solidFill>
                  <a:srgbClr val="B8C6D2"/>
                </a:solidFill>
                <a:latin typeface="Calibri"/>
              </a:rPr>
              <a:t>of run-rate saved in year one, net of transition cost — the 15% target is cleared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95928" y="1700784"/>
            <a:ext cx="1658035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$68,813,000</a:t>
            </a:r>
          </a:p>
          <a:p>
            <a:pPr algn="l">
              <a:lnSpc>
                <a:spcPct val="116000"/>
              </a:lnSpc>
              <a:spcBef>
                <a:spcPts val="400"/>
              </a:spcBef>
              <a:spcAft>
                <a:spcPts val="0"/>
              </a:spcAft>
            </a:pPr>
            <a:r>
              <a:rPr sz="950" b="0" i="0">
                <a:solidFill>
                  <a:srgbClr val="A8B8C6"/>
                </a:solidFill>
                <a:latin typeface="Calibri"/>
              </a:rPr>
              <a:t>net first year, against a
15% ask of $55,882,800</a:t>
            </a:r>
          </a:p>
        </p:txBody>
      </p:sp>
      <p:sp>
        <p:nvSpPr>
          <p:cNvPr id="9" name="Rectangle 8"/>
          <p:cNvSpPr/>
          <p:nvPr/>
        </p:nvSpPr>
        <p:spPr>
          <a:xfrm>
            <a:off x="5708827" y="1755648"/>
            <a:ext cx="7315" cy="658368"/>
          </a:xfrm>
          <a:prstGeom prst="rect">
            <a:avLst/>
          </a:prstGeom>
          <a:solidFill>
            <a:srgbClr val="2C4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73419" y="1700784"/>
            <a:ext cx="1658035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$92,845,000</a:t>
            </a:r>
          </a:p>
          <a:p>
            <a:pPr algn="l">
              <a:lnSpc>
                <a:spcPct val="116000"/>
              </a:lnSpc>
              <a:spcBef>
                <a:spcPts val="400"/>
              </a:spcBef>
              <a:spcAft>
                <a:spcPts val="0"/>
              </a:spcAft>
            </a:pPr>
            <a:r>
              <a:rPr sz="950" b="0" i="0">
                <a:solidFill>
                  <a:srgbClr val="A8B8C6"/>
                </a:solidFill>
                <a:latin typeface="Calibri"/>
              </a:rPr>
              <a:t>gross annual avoidable
— recurs from year two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6319" y="1755648"/>
            <a:ext cx="7315" cy="658368"/>
          </a:xfrm>
          <a:prstGeom prst="rect">
            <a:avLst/>
          </a:prstGeom>
          <a:solidFill>
            <a:srgbClr val="2C4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50911" y="1700784"/>
            <a:ext cx="1658035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$24,032,000</a:t>
            </a:r>
          </a:p>
          <a:p>
            <a:pPr algn="l">
              <a:lnSpc>
                <a:spcPct val="116000"/>
              </a:lnSpc>
              <a:spcBef>
                <a:spcPts val="400"/>
              </a:spcBef>
              <a:spcAft>
                <a:spcPts val="0"/>
              </a:spcAft>
            </a:pPr>
            <a:r>
              <a:rPr sz="950" b="0" i="0">
                <a:solidFill>
                  <a:srgbClr val="A8B8C6"/>
                </a:solidFill>
                <a:latin typeface="Calibri"/>
              </a:rPr>
              <a:t>one-time transition cost
netted out (25.9% of gross)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63811" y="1755648"/>
            <a:ext cx="7315" cy="658368"/>
          </a:xfrm>
          <a:prstGeom prst="rect">
            <a:avLst/>
          </a:prstGeom>
          <a:solidFill>
            <a:srgbClr val="2C4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28403" y="1700784"/>
            <a:ext cx="1658035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$372,552,000</a:t>
            </a:r>
          </a:p>
          <a:p>
            <a:pPr algn="l">
              <a:lnSpc>
                <a:spcPct val="116000"/>
              </a:lnSpc>
              <a:spcBef>
                <a:spcPts val="400"/>
              </a:spcBef>
              <a:spcAft>
                <a:spcPts val="0"/>
              </a:spcAft>
            </a:pPr>
            <a:r>
              <a:rPr sz="950" b="0" i="0">
                <a:solidFill>
                  <a:srgbClr val="A8B8C6"/>
                </a:solidFill>
                <a:latin typeface="Calibri"/>
              </a:rPr>
              <a:t>portfolio run-rate the
18.47% is measured against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962656"/>
            <a:ext cx="335066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7A8C"/>
                </a:solidFill>
                <a:latin typeface="Calibri"/>
              </a:rPr>
              <a:t>WHAT THIS PORTFOLIO 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3227832"/>
            <a:ext cx="3350666" cy="10058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383280"/>
            <a:ext cx="3350666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182880" indent="-182880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  <a:buClr>
                <a:srgbClr val="1F7A8C"/>
              </a:buClr>
              <a:buFont typeface="Arial"/>
              <a:buChar char="▪"/>
            </a:pPr>
            <a:r>
              <a:rPr sz="1150" b="1">
                <a:solidFill>
                  <a:srgbClr val="0F2438"/>
                </a:solidFill>
                <a:latin typeface="Calibri"/>
              </a:rPr>
              <a:t>An illustrative portfolio, calibrated to the 15% target. </a:t>
            </a:r>
            <a:r>
              <a:rPr sz="1150" b="0">
                <a:solidFill>
                  <a:srgbClr val="44576D"/>
                </a:solidFill>
                <a:latin typeface="Calibri"/>
              </a:rPr>
              <a:t>Every file in the set says so on its own first sheet: the values were constructed so the unchanged model would clear the target. So 18.47% is a property of this dataset, not a finding about an estate.</a:t>
            </a:r>
          </a:p>
          <a:p>
            <a:pPr marL="182880" indent="-182880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  <a:buClr>
                <a:srgbClr val="1F7A8C"/>
              </a:buClr>
              <a:buFont typeface="Arial"/>
              <a:buChar char="▪"/>
            </a:pPr>
            <a:r>
              <a:rPr sz="1150" b="1">
                <a:solidFill>
                  <a:srgbClr val="0F2438"/>
                </a:solidFill>
                <a:latin typeface="Calibri"/>
              </a:rPr>
              <a:t>What was calibrated: </a:t>
            </a:r>
            <a:r>
              <a:rPr sz="1150" b="0">
                <a:solidFill>
                  <a:srgbClr val="44576D"/>
                </a:solidFill>
                <a:latin typeface="Calibri"/>
              </a:rPr>
              <a:t>154 of the 600 applications — no rows added, none invented — were relabelled as non-survivor members of their capability clusters, their existing costs scaled (86 by 1.15, 68 by 1.25), and migration evidence added.</a:t>
            </a:r>
          </a:p>
          <a:p>
            <a:pPr marL="182880" indent="-182880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  <a:buClr>
                <a:srgbClr val="1F7A8C"/>
              </a:buClr>
              <a:buFont typeface="Arial"/>
              <a:buChar char="▪"/>
            </a:pPr>
            <a:r>
              <a:rPr sz="1150" b="1">
                <a:solidFill>
                  <a:srgbClr val="0F2438"/>
                </a:solidFill>
                <a:latin typeface="Calibri"/>
              </a:rPr>
              <a:t>Named, so it can be checked: </a:t>
            </a:r>
            <a:r>
              <a:rPr sz="1150" b="0">
                <a:solidFill>
                  <a:srgbClr val="44576D"/>
                </a:solidFill>
                <a:latin typeface="Calibri"/>
              </a:rPr>
              <a:t>data/northstar/northstar-600-tuned-tool-vocabulary.csv.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20514" y="2962656"/>
            <a:ext cx="335066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7A8C"/>
                </a:solidFill>
                <a:latin typeface="Calibri"/>
              </a:rPr>
              <a:t>WHAT THE ENGINE DID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0514" y="3227832"/>
            <a:ext cx="3350666" cy="10058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20514" y="3383280"/>
            <a:ext cx="3350666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182880" indent="-182880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  <a:buClr>
                <a:srgbClr val="1F7A8C"/>
              </a:buClr>
              <a:buFont typeface="Arial"/>
              <a:buChar char="▪"/>
            </a:pPr>
            <a:r>
              <a:rPr sz="1150" b="1">
                <a:solidFill>
                  <a:srgbClr val="0F2438"/>
                </a:solidFill>
                <a:latin typeface="Calibri"/>
              </a:rPr>
              <a:t>The engine was not modified to reach the number. </a:t>
            </a:r>
            <a:r>
              <a:rPr sz="1150" b="0">
                <a:solidFill>
                  <a:srgbClr val="44576D"/>
                </a:solidFill>
                <a:latin typeface="Calibri"/>
              </a:rPr>
              <a:t>Same 18 inputs, four dimensions, 3.0 gates, 16-row table, two guardrails and savings arithmetic as every other run. No row is special-cased: every disposition is the model's own answer.</a:t>
            </a:r>
          </a:p>
          <a:p>
            <a:pPr marL="182880" indent="-182880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  <a:buClr>
                <a:srgbClr val="1F7A8C"/>
              </a:buClr>
              <a:buFont typeface="Arial"/>
              <a:buChar char="▪"/>
            </a:pPr>
            <a:r>
              <a:rPr sz="1150" b="1">
                <a:solidFill>
                  <a:srgbClr val="0F2438"/>
                </a:solidFill>
                <a:latin typeface="Calibri"/>
              </a:rPr>
              <a:t>The spread across 600: </a:t>
            </a:r>
            <a:r>
              <a:rPr sz="1150" b="0">
                <a:solidFill>
                  <a:srgbClr val="44576D"/>
                </a:solidFill>
                <a:latin typeface="Calibri"/>
              </a:rPr>
              <a:t>retain 233, invest 129, consolidate 129, retire 109, replace 0. 367 rows carry an action; the other 233 are published as decisions with a route to object, not a meeting.</a:t>
            </a:r>
          </a:p>
          <a:p>
            <a:pPr marL="182880" indent="-182880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  <a:buClr>
                <a:srgbClr val="1F7A8C"/>
              </a:buClr>
              <a:buFont typeface="Arial"/>
              <a:buChar char="▪"/>
            </a:pPr>
            <a:r>
              <a:rPr sz="1150" b="1">
                <a:solidFill>
                  <a:srgbClr val="0F2438"/>
                </a:solidFill>
                <a:latin typeface="Calibri"/>
              </a:rPr>
              <a:t>Checked, not asserted: </a:t>
            </a:r>
            <a:r>
              <a:rPr sz="1150" b="0">
                <a:solidFill>
                  <a:srgbClr val="44576D"/>
                </a:solidFill>
                <a:latin typeface="Calibri"/>
              </a:rPr>
              <a:t>the browser reproduces the engine's disposition and priority on 600 of 600 rows.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2660" y="2962656"/>
            <a:ext cx="335066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7A8C"/>
                </a:solidFill>
                <a:latin typeface="Calibri"/>
              </a:rPr>
              <a:t>WHY IT IS REPEATABLE · WHAT'S NEXT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82660" y="3227832"/>
            <a:ext cx="3350666" cy="10058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2660" y="3383280"/>
            <a:ext cx="3350666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182880" indent="-182880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  <a:buClr>
                <a:srgbClr val="1F7A8C"/>
              </a:buClr>
              <a:buFont typeface="Arial"/>
              <a:buChar char="▪"/>
            </a:pPr>
            <a:r>
              <a:rPr sz="1150" b="1">
                <a:solidFill>
                  <a:srgbClr val="0F2438"/>
                </a:solidFill>
                <a:latin typeface="Calibri"/>
              </a:rPr>
              <a:t>The model is portfolio-agnostic. </a:t>
            </a:r>
            <a:r>
              <a:rPr sz="1150" b="0">
                <a:solidFill>
                  <a:srgbClr val="44576D"/>
                </a:solidFill>
                <a:latin typeface="Calibri"/>
              </a:rPr>
              <a:t>It was built against a different, independently generated portfolio, and scored Northstar through the same code with no changes.</a:t>
            </a:r>
          </a:p>
          <a:p>
            <a:pPr marL="182880" indent="-182880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  <a:buClr>
                <a:srgbClr val="1F7A8C"/>
              </a:buClr>
              <a:buFont typeface="Arial"/>
              <a:buChar char="▪"/>
            </a:pPr>
            <a:r>
              <a:rPr sz="1150" b="1">
                <a:solidFill>
                  <a:srgbClr val="0F2438"/>
                </a:solidFill>
                <a:latin typeface="Calibri"/>
              </a:rPr>
              <a:t>Nothing sector-specific is hard-coded. </a:t>
            </a:r>
            <a:r>
              <a:rPr sz="1150" b="0">
                <a:solidFill>
                  <a:srgbClr val="44576D"/>
                </a:solidFill>
                <a:latin typeface="Calibri"/>
              </a:rPr>
              <a:t>Thresholds, weights and all 16 table rows are configuration, so a new sector is a re-tune, not a rebuild.</a:t>
            </a:r>
          </a:p>
          <a:p>
            <a:pPr marL="182880" indent="-182880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  <a:buClr>
                <a:srgbClr val="1F7A8C"/>
              </a:buClr>
              <a:buFont typeface="Arial"/>
              <a:buChar char="▪"/>
            </a:pPr>
            <a:r>
              <a:rPr sz="1150" b="1">
                <a:solidFill>
                  <a:srgbClr val="0F2438"/>
                </a:solidFill>
                <a:latin typeface="Calibri"/>
              </a:rPr>
              <a:t>Next: </a:t>
            </a:r>
            <a:r>
              <a:rPr sz="1150" b="0">
                <a:solidFill>
                  <a:srgbClr val="44576D"/>
                </a:solidFill>
                <a:latin typeface="Calibri"/>
              </a:rPr>
              <a:t>a real peer cost benchmark, and closing the derived-column pipeline — 31 of 68 columns are still authored by hand. The cost lens rests on three criteria rather than four: consumption price variance is absent.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6144768"/>
            <a:ext cx="10874959" cy="10058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6291072"/>
            <a:ext cx="83603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7C8A9B"/>
                </a:solidFill>
                <a:latin typeface="Calibri"/>
              </a:rPr>
              <a:t>Every figure above is the calibrated 600-application portfolio: an illustrative dataset constructed to clear the 15% target, labelled so on all 600 rows. Source: northstar-600-tuned-summary.md, re-derived from northstar-600-tuned-tool-vocabulary.csv.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5887" y="6291072"/>
            <a:ext cx="2377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C8A9B"/>
                </a:solidFill>
                <a:latin typeface="Calibri"/>
              </a:rPr>
              <a:t>AdvisAR  ·  Impact  ·  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