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Northstar Global Health is our health system: 600 applications, SaaS and AI tools, and a CIO under</a:t>
            </a:r>
          </a:p>
          <a:p>
            <a:r>
              <a:t>pressure to take cost out of technology without breaking a clinical workflow that somebody depends</a:t>
            </a:r>
          </a:p>
          <a:p>
            <a:r>
              <a:t>on. And 600 is not a number we are waving at - we scored all six hundred of them end to end, in one</a:t>
            </a:r>
          </a:p>
          <a:p>
            <a:r>
              <a:t>run, and you will see what came out on the impact slide.</a:t>
            </a:r>
          </a:p>
          <a:p/>
          <a:p>
            <a:r>
              <a:t>The way this gets done today is a spreadsheet and a calendar. You interview owners, you run a</a:t>
            </a:r>
          </a:p>
          <a:p>
            <a:r>
              <a:t>facilitated workshop per application, and because those workshops happen months apart with</a:t>
            </a:r>
          </a:p>
          <a:p>
            <a:r>
              <a:t>different people in the room, the judgement is not consistent between them. That is why</a:t>
            </a:r>
          </a:p>
          <a:p>
            <a:r>
              <a:t>rationalization rarely finishes at portfolio scale - it is not that nobody wants to do it, it is</a:t>
            </a:r>
          </a:p>
          <a:p>
            <a:r>
              <a:t>that the unit cost per application is a meeting.</a:t>
            </a:r>
          </a:p>
          <a:p/>
          <a:p>
            <a:r>
              <a:t>And the decisions that come out have no traceable path back to evidence. So when a business owner</a:t>
            </a:r>
          </a:p>
          <a:p>
            <a:r>
              <a:t>objects, there is nothing to point at, and the decision gets relitigated. That is the real</a:t>
            </a:r>
          </a:p>
          <a:p>
            <a:r>
              <a:t>failure mode: not a wrong answer, an unarguable one.</a:t>
            </a:r>
          </a:p>
          <a:p/>
          <a:p>
            <a:r>
              <a:t>Healthcare makes it harder in a specific way. You cannot rank by cost and cut from the top. In</a:t>
            </a:r>
          </a:p>
          <a:p>
            <a:r>
              <a:t>Northstar's portfolio the largest single line item is the core EHR at 8.75 million a year, and it</a:t>
            </a:r>
          </a:p>
          <a:p>
            <a:r>
              <a:t>is exactly the thing you must not touch. Patient-care criticality and compliance outrank cost, so</a:t>
            </a:r>
          </a:p>
          <a:p>
            <a:r>
              <a:t>the expensive application is very often the one that has to stay.</a:t>
            </a:r>
          </a:p>
          <a:p/>
          <a:p>
            <a:r>
              <a:t>We built against a seven-step rationalization process - discover, inventory, analyse, decide,</a:t>
            </a:r>
          </a:p>
          <a:p>
            <a:r>
              <a:t>roadmap, execute, monitor - and wrote 65 requirements mapped across all seven. Worth saying where</a:t>
            </a:r>
          </a:p>
          <a:p>
            <a:r>
              <a:t>the time actually goes: steps two through four. Gathering the data, mapping the overlap, and</a:t>
            </a:r>
          </a:p>
          <a:p>
            <a:r>
              <a:t>reaching a decision. Execution is not the bottleneck. Getting to a decision you can defend is the</a:t>
            </a:r>
          </a:p>
          <a:p>
            <a:r>
              <a:t>bottleneck, and that is the part we automated.</a:t>
            </a:r>
          </a:p>
          <a:p/>
          <a:p>
            <a:r>
              <a:t>One disclaimer that covers the whole deck: Northstar is fictional and every number you will see</a:t>
            </a:r>
          </a:p>
          <a:p>
            <a:r>
              <a:t>is synthetic. The product and vendor names are real; the portfolio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AdvisAR, and the mechanics are deliberately boring, because boring is what survives a</a:t>
            </a:r>
          </a:p>
          <a:p>
            <a:r>
              <a:t>steering committee.</a:t>
            </a:r>
          </a:p>
          <a:p/>
          <a:p>
            <a:r>
              <a:t>Eighteen inputs per application, each scored one to five in half steps. Five is always the</a:t>
            </a:r>
          </a:p>
          <a:p>
            <a:r>
              <a:t>favourable end - that matters for risk and cost, where five means controlled and cheap, so you</a:t>
            </a:r>
          </a:p>
          <a:p>
            <a:r>
              <a:t>never have to remember which way a number points. Sixteen of the eighteen carry weight; two,</a:t>
            </a:r>
          </a:p>
          <a:p>
            <a:r>
              <a:t>absolute cost band and end-user perceived quality, are collected and stored at weight zero,</a:t>
            </a:r>
          </a:p>
          <a:p>
            <a:r>
              <a:t>because we decided cost should move priority without being able to condemn something on its own.</a:t>
            </a:r>
          </a:p>
          <a:p/>
          <a:p>
            <a:r>
              <a:t>Those roll into four dimensions - business value, technical health, cost efficiency, risk - and</a:t>
            </a:r>
          </a:p>
          <a:p>
            <a:r>
              <a:t>each dimension is gated at 3.0. At or above, it passes. Below, it fails. So every application</a:t>
            </a:r>
          </a:p>
          <a:p>
            <a:r>
              <a:t>produces a four-character pass/fail key, and that key is looked up in a sixteen-row table which</a:t>
            </a:r>
          </a:p>
          <a:p>
            <a:r>
              <a:t>returns one of five dispositions plus a priority. Every possible combination has a row, so there</a:t>
            </a:r>
          </a:p>
          <a:p>
            <a:r>
              <a:t>is no undefined case, and the key itself is the rationale: "business value passes, technical</a:t>
            </a:r>
          </a:p>
          <a:p>
            <a:r>
              <a:t>health passes, cost efficiency fails, risk passes" is a sentence a CIO can argue with.</a:t>
            </a:r>
          </a:p>
          <a:p/>
          <a:p>
            <a:r>
              <a:t>Two guardrails run after the lookup, and they matter. First, retire and replace are barred</a:t>
            </a:r>
          </a:p>
          <a:p>
            <a:r>
              <a:t>outright for an application that has not finished ramping up - if the gates say retire on a</a:t>
            </a:r>
          </a:p>
          <a:p>
            <a:r>
              <a:t>young pilot, that becomes a funded invest instead, because you paid for it and have not learned</a:t>
            </a:r>
          </a:p>
          <a:p>
            <a:r>
              <a:t>anything from it yet. Second, if an application is the duplicate inside an overlap cluster and</a:t>
            </a:r>
          </a:p>
          <a:p>
            <a:r>
              <a:t>there is a named survivor holding the same capability, it is folded into that survivor rather</a:t>
            </a:r>
          </a:p>
          <a:p>
            <a:r>
              <a:t>than switched off outright - the capability persists, so somebody's workflow does not simply</a:t>
            </a:r>
          </a:p>
          <a:p>
            <a:r>
              <a:t>disappear. On Northstar those two guardrails moved five rows. Both are written onto the row, so</a:t>
            </a:r>
          </a:p>
          <a:p>
            <a:r>
              <a:t>you can always see what the gates said and what overrode it.</a:t>
            </a:r>
          </a:p>
          <a:p/>
          <a:p>
            <a:r>
              <a:t>Now the part I would actually sell, which is intake. The hardest question in a rationalization</a:t>
            </a:r>
          </a:p>
          <a:p>
            <a:r>
              <a:t>engagement is "what do you need from us", and the usual answer is a two-hundred-question survey</a:t>
            </a:r>
          </a:p>
          <a:p>
            <a:r>
              <a:t>that comes back half empty. Our answer is precise: the model has 125 columns, we ask you for 57,</a:t>
            </a:r>
          </a:p>
          <a:p>
            <a:r>
              <a:t>and we derive 68. Most of it is files rather than typing - five system extracts, plus eight</a:t>
            </a:r>
          </a:p>
          <a:p>
            <a:r>
              <a:t>questions per application aimed at the named owner, which is about ten minutes each.</a:t>
            </a:r>
          </a:p>
          <a:p/>
          <a:p>
            <a:r>
              <a:t>And there is a floor. A 21-item minimum intake still returns a disposition and a priority for</a:t>
            </a:r>
          </a:p>
          <a:p>
            <a:r>
              <a:t>every application. It does not pretend to be as good: confidence is capped at medium, because</a:t>
            </a:r>
          </a:p>
          <a:p>
            <a:r>
              <a:t>that intake populates only about half the fields the model consumes, and high confidence is</a:t>
            </a:r>
          </a:p>
          <a:p>
            <a:r>
              <a:t>deliberately unreachable there. That is the honest version of "start now with what you have".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walk Northstar's flow, and I will be precise about what is built and what is not.</a:t>
            </a:r>
          </a:p>
          <a:p/>
          <a:p>
            <a:r>
              <a:t>Step one, intake. A workbook of the columns we asked the client for. The engine opens it</a:t>
            </a:r>
          </a:p>
          <a:p>
            <a:r>
              <a:t>read-only and never writes back to it.</a:t>
            </a:r>
          </a:p>
          <a:p/>
          <a:p>
            <a:r>
              <a:t>Step two, scoring. Eighteen inputs derived and scored, rolled into the four dimensions, each</a:t>
            </a:r>
          </a:p>
          <a:p>
            <a:r>
              <a:t>gated at 3.0. Where an input has no source it is skipped and the dimension renormalises over what</a:t>
            </a:r>
          </a:p>
          <a:p>
            <a:r>
              <a:t>is actually populated - it does not silently score a blank as a zero.</a:t>
            </a:r>
          </a:p>
          <a:p/>
          <a:p>
            <a:r>
              <a:t>Step three, the lookup and the two guardrails I just described.</a:t>
            </a:r>
          </a:p>
          <a:p/>
          <a:p>
            <a:r>
              <a:t>Step four is the one that makes this usable. Every row comes out with its rationale written in</a:t>
            </a:r>
          </a:p>
          <a:p>
            <a:r>
              <a:t>prose - not just "consolidate", but which dimension failed, at what score, which input drove it,</a:t>
            </a:r>
          </a:p>
          <a:p>
            <a:r>
              <a:t>and which application it folds into. Plus a confidence level and the specific evidence gap behind</a:t>
            </a:r>
          </a:p>
          <a:p>
            <a:r>
              <a:t>that level. On Northstar's twenty applications: seventeen rows at high confidence, two at medium,</a:t>
            </a:r>
          </a:p>
          <a:p>
            <a:r>
              <a:t>and one - the video-conferencing tool - held as needs validation rather than given a</a:t>
            </a:r>
          </a:p>
          <a:p>
            <a:r>
              <a:t>recommendation at all, because its telehealth and conference-room dependencies were not</a:t>
            </a:r>
          </a:p>
          <a:p>
            <a:r>
              <a:t>evidenced. That sixth state, needs validation, is deliberately not one of the five dispositions.</a:t>
            </a:r>
          </a:p>
          <a:p/>
          <a:p>
            <a:r>
              <a:t>Step five is the point. Eleven applications come back retain: no action, no spend. Nine rows are</a:t>
            </a:r>
          </a:p>
          <a:p>
            <a:r>
              <a:t>contested - seven consolidate, one invest, one retire. Those nine are the shortlist a CIO</a:t>
            </a:r>
          </a:p>
          <a:p>
            <a:r>
              <a:t>actually argues about, and they fall out of six overlap clusters the engine found: the two EHRs,</a:t>
            </a:r>
          </a:p>
          <a:p>
            <a:r>
              <a:t>collaboration, ambient clinical documentation, ITSM, analytics, and HCM. In each cluster the</a:t>
            </a:r>
          </a:p>
          <a:p>
            <a:r>
              <a:t>engine names the survivor and says why. The core EHR holds all three contested capabilities as</a:t>
            </a:r>
          </a:p>
          <a:p>
            <a:r>
              <a:t>primary, with 29,400 active users, and scores retain independently - so the second EHR folds into</a:t>
            </a:r>
          </a:p>
          <a:p>
            <a:r>
              <a:t>it rather than the other way round.</a:t>
            </a:r>
          </a:p>
          <a:p/>
          <a:p>
            <a:r>
              <a:t>On how it runs: Python 3 with exactly one third-party dependency, openpyxl. No build step, no</a:t>
            </a:r>
          </a:p>
          <a:p>
            <a:r>
              <a:t>package manager, nothing to compile. That command-line engine stays the reference implementation -</a:t>
            </a:r>
          </a:p>
          <a:p>
            <a:r>
              <a:t>if the browser and the engine ever disagree, the engine is right by definition. Output is a</a:t>
            </a:r>
          </a:p>
          <a:p>
            <a:r>
              <a:t>nine-sheet workbook, including a sanity-checks sheet and a sheet comparing our dispositions</a:t>
            </a:r>
          </a:p>
          <a:p>
            <a:r>
              <a:t>against the client's own labels, which is how we found the places we disagree with her, and why.</a:t>
            </a:r>
          </a:p>
          <a:p/>
          <a:p>
            <a:r>
              <a:t>Then we ran the same engine, unmodified, over a six-hundred-application portfolio. Seconds, not</a:t>
            </a:r>
          </a:p>
          <a:p>
            <a:r>
              <a:t>weeks: the scoring step is a shade over two seconds, and about seven end to end including writing</a:t>
            </a:r>
          </a:p>
          <a:p>
            <a:r>
              <a:t>every output workbook. Treat that as an order of magnitude rather than a benchmark - it is a</a:t>
            </a:r>
          </a:p>
          <a:p>
            <a:r>
              <a:t>laptop-class measurement and the committed summary from a slower machine records nine and a</a:t>
            </a:r>
          </a:p>
          <a:p>
            <a:r>
              <a:t>quarter seconds end to end. The important half of that run is the regression: the twenty</a:t>
            </a:r>
          </a:p>
          <a:p>
            <a:r>
              <a:t>applications shared with the walkthrough came out of the six hundred with exactly the same</a:t>
            </a:r>
          </a:p>
          <a:p>
            <a:r>
              <a:t>dispositions, none moved.</a:t>
            </a:r>
          </a:p>
          <a:p/>
          <a:p>
            <a:r>
              <a:t>Now the web app, and here is what is real. Upload inventory opens a genuine file dialogue that</a:t>
            </a:r>
          </a:p>
          <a:p>
            <a:r>
              <a:t>accepts .xlsx and .csv. Analyze portfolio scores that file in the browser and rewrites the page</a:t>
            </a:r>
          </a:p>
          <a:p>
            <a:r>
              <a:t>from it - the headline figures, the savings bars, the decision mix, the guardrail counts, the</a:t>
            </a:r>
          </a:p>
          <a:p>
            <a:r>
              <a:t>redundancy clusters, and the workbench table, where clicking a row opens the evidence rail rebuilt</a:t>
            </a:r>
          </a:p>
          <a:p>
            <a:r>
              <a:t>from the computed result: four dimension scores with pass or fail, the pattern key, the priority,</a:t>
            </a:r>
          </a:p>
          <a:p>
            <a:r>
              <a:t>the confidence and a written rationale. Three filters - capability, recommendation, critical</a:t>
            </a:r>
          </a:p>
          <a:p>
            <a:r>
              <a:t>operation - narrow that table, and the headline figures deliberately do not move when you filter,</a:t>
            </a:r>
          </a:p>
          <a:p>
            <a:r>
              <a:t>so a narrowed table can never be read as a changed total. There is no server, no build step and no</a:t>
            </a:r>
          </a:p>
          <a:p>
            <a:r>
              <a:t>network call in the whole path: the file never leaves the machine, which also means this works on</a:t>
            </a:r>
          </a:p>
          <a:p>
            <a:r>
              <a:t>a conference-centre wifi that does not.</a:t>
            </a:r>
          </a:p>
          <a:p/>
          <a:p>
            <a:r>
              <a:t>We checked the browser against the engine rather than assuming it: on our own twenty-application</a:t>
            </a:r>
          </a:p>
          <a:p>
            <a:r>
              <a:t>synthetic portfolio, 329 compared values matched, zero mismatches, at 22,057,000 of spend and</a:t>
            </a:r>
          </a:p>
          <a:p>
            <a:r>
              <a:t>5,818,716 net. That is per application the four dimension scores, the four gate verdicts, the</a:t>
            </a:r>
          </a:p>
          <a:p>
            <a:r>
              <a:t>pattern key, the disposition, the priority, the confidence and the net saving. Six hundred rows in</a:t>
            </a:r>
          </a:p>
          <a:p>
            <a:r>
              <a:t>the browser parse in 189 milliseconds and score and render in 133 - fast enough that there is no</a:t>
            </a:r>
          </a:p>
          <a:p>
            <a:r>
              <a:t>progress bar, because nothing waits.</a:t>
            </a:r>
          </a:p>
          <a:p/>
          <a:p>
            <a:r>
              <a:t>One boundary to state plainly, and I would rather say it than have it found: it scores a portfolio</a:t>
            </a:r>
          </a:p>
          <a:p>
            <a:r>
              <a:t>in our intake schema. It is not a universal reader. Hand it an inventory in a different column</a:t>
            </a:r>
          </a:p>
          <a:p>
            <a:r>
              <a:t>vocabulary - as both raw Northstar workbooks are - and it refuses: it names the file, the row and</a:t>
            </a:r>
          </a:p>
          <a:p>
            <a:r>
              <a:t>column count, and lists the headings it does look for, app_id, app_name, primary_capability,</a:t>
            </a:r>
          </a:p>
          <a:p>
            <a:r>
              <a:t>ov_patient_care_criticality, th_supportability, c_cost_per_active_user_vs_peers, r_technical_risk.</a:t>
            </a:r>
          </a:p>
          <a:p>
            <a:r>
              <a:t>Case, spaces, hyphens and underscores do not matter. Mapping another vocabulary onto those names</a:t>
            </a:r>
          </a:p>
          <a:p>
            <a:r>
              <a:t>is a real piece of work and we have not automated it.</a:t>
            </a:r>
          </a:p>
          <a:p/>
          <a:p>
            <a:r>
              <a:t>IF AN UPLOAD IS REFUSED ON STAGE, say this: "That is the tool refusing a file it cannot score</a:t>
            </a:r>
          </a:p>
          <a:p>
            <a:r>
              <a:t>rather than inventing an answer for it - it wants our intake column names, and it just told you</a:t>
            </a:r>
          </a:p>
          <a:p>
            <a:r>
              <a:t>which ones. Here is the same portfolio in that schema." Then upload</a:t>
            </a:r>
          </a:p>
          <a:p>
            <a:r>
              <a:t>data/northstar/northstar-600-corrected-tool-vocabulary.csv, which is the file to demo from.</a:t>
            </a:r>
          </a:p>
          <a:p/>
          <a:p>
            <a:r>
              <a:t>And to be exact about what I am claiming: the page is deployed at hack-team-12.vercel.app, and</a:t>
            </a:r>
          </a:p>
          <a:p>
            <a:r>
              <a:t>everything I have just described about its behaviour is read out of the committed source in</a:t>
            </a:r>
          </a:p>
          <a:p>
            <a:r>
              <a:t>src/apprat-ai-wireframe-v2.html and the measured comparison in docs/wireframe-README.md. Export</a:t>
            </a:r>
          </a:p>
          <a:p>
            <a:r>
              <a:t>decisions and Generate executive readout are still deliberately inert - we left them visibly</a:t>
            </a:r>
          </a:p>
          <a:p>
            <a:r>
              <a:t>unwired rather than faking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first, and this is the six-hundred-application portfolio, not a sample of it. Northstar's</a:t>
            </a:r>
          </a:p>
          <a:p>
            <a:r>
              <a:t>600 applications carry a 354.33 million dollar annual run cost. We identify 25.816 million of gross</a:t>
            </a:r>
          </a:p>
          <a:p>
            <a:r>
              <a:t>annual avoidable cost, net out 8.407 million of one-time transition cost - migration, interface</a:t>
            </a:r>
          </a:p>
          <a:p>
            <a:r>
              <a:t>cutover, contract exit, which is 32.6 percent of the gross - and land at 17.409 million net in the</a:t>
            </a:r>
          </a:p>
          <a:p>
            <a:r>
              <a:t>first year. From year two the gross recurs, because the transition cost is one time only. All of</a:t>
            </a:r>
          </a:p>
          <a:p>
            <a:r>
              <a:t>those figures come from the engine run recorded in northstar-600-corrected-summary.md, and I</a:t>
            </a:r>
          </a:p>
          <a:p>
            <a:r>
              <a:t>re-ran the scoring script to reproduce them rather than reading them off a slide.</a:t>
            </a:r>
          </a:p>
          <a:p/>
          <a:p>
            <a:r>
              <a:t>The spread is retain 301, invest 174, retire 81, consolidate 44, replace 0. Nothing lands in</a:t>
            </a:r>
          </a:p>
          <a:p>
            <a:r>
              <a:t>replace, because every application that might have been replaced clears its gates.</a:t>
            </a:r>
          </a:p>
          <a:p/>
          <a:p>
            <a:r>
              <a:t>The twenty-application walkthrough you saw on the previous slide is the detailed version of the</a:t>
            </a:r>
          </a:p>
          <a:p>
            <a:r>
              <a:t>same method - 43.25 million of run-rate, 5.30 million net, eleven retains and nine contested rows -</a:t>
            </a:r>
          </a:p>
          <a:p>
            <a:r>
              <a:t>and it holds inside the six hundred: all twenty came out with the same dispositions they had, none</a:t>
            </a:r>
          </a:p>
          <a:p>
            <a:r>
              <a:t>moved. Please keep the three portfolios apart if you ask me about them. The corrected 600-app</a:t>
            </a:r>
          </a:p>
          <a:p>
            <a:r>
              <a:t>Northstar run is the headline. The 20-app Northstar run is the walkthrough. The team's own</a:t>
            </a:r>
          </a:p>
          <a:p>
            <a:r>
              <a:t>20-application synthetic portfolio is the fixture we test the browser against. Three different</a:t>
            </a:r>
          </a:p>
          <a:p>
            <a:r>
              <a:t>things; I am not adding them up.</a:t>
            </a:r>
          </a:p>
          <a:p/>
          <a:p>
            <a:r>
              <a:t>Now the honesty points, because they are the reason to believe the rest. First, the target. The</a:t>
            </a:r>
          </a:p>
          <a:p>
            <a:r>
              <a:t>CIO's stated savings target is fifteen percent of run cost, which is 53.15 million dollars. We do</a:t>
            </a:r>
          </a:p>
          <a:p>
            <a:r>
              <a:t>not meet it on first-year net - not at six hundred applications and not at twenty. I would rather</a:t>
            </a:r>
          </a:p>
          <a:p>
            <a:r>
              <a:t>say that plainly than reclassify a transition cost to make a number.</a:t>
            </a:r>
          </a:p>
          <a:p/>
          <a:p>
            <a:r>
              <a:t>Second, one cost input is missing from her source data: consumption price variance. There is no</a:t>
            </a:r>
          </a:p>
          <a:p>
            <a:r>
              <a:t>metered or consumption cost line anywhere in her workbook, so that single input is left unscored</a:t>
            </a:r>
          </a:p>
          <a:p>
            <a:r>
              <a:t>across the portfolio rather than assumed. It carries the lowest weight in the model, and the other</a:t>
            </a:r>
          </a:p>
          <a:p>
            <a:r>
              <a:t>inputs renormalise around it, so it does not condemn a row - it is one missing portfolio-wide</a:t>
            </a:r>
          </a:p>
          <a:p>
            <a:r>
              <a:t>input, not a penalty applied per application. It is also why you will see a zero where the tool</a:t>
            </a:r>
          </a:p>
          <a:p>
            <a:r>
              <a:t>would otherwise show a high-confidence split for this portfolio: that zero is absent data, not a</a:t>
            </a:r>
          </a:p>
          <a:p>
            <a:r>
              <a:t>result, and I am not quoting a safe-savings figure for the six hundred at all. The twenty-</a:t>
            </a:r>
          </a:p>
          <a:p>
            <a:r>
              <a:t>application portfolio does carry that input, which is why the workbook can split its number.</a:t>
            </a:r>
          </a:p>
          <a:p/>
          <a:p>
            <a:r>
              <a:t>Third, consolidation. The functional overlap in this portfolio is wide - thirty-five overlap groups,</a:t>
            </a:r>
          </a:p>
          <a:p>
            <a:r>
              <a:t>some with twenty members - but only forty-four applications are consolidated. That is deliberate:</a:t>
            </a:r>
          </a:p>
          <a:p>
            <a:r>
              <a:t>consolidation is gated on migration evidence and a named survivor, not on redundancy alone. If we</a:t>
            </a:r>
          </a:p>
          <a:p>
            <a:r>
              <a:t>cannot see that a capability actually lands somewhere, we do not switch anything off. So the</a:t>
            </a:r>
          </a:p>
          <a:p>
            <a:r>
              <a:t>absorbable count is limited by the evidence in the data we were given, not by the method - richer</a:t>
            </a:r>
          </a:p>
          <a:p>
            <a:r>
              <a:t>migration and dependency evidence would raise it, and that is an intake conversation, not a code</a:t>
            </a:r>
          </a:p>
          <a:p>
            <a:r>
              <a:t>change.</a:t>
            </a:r>
          </a:p>
          <a:p/>
          <a:p>
            <a:r>
              <a:t>What actually changes operationally matters more to me than the number. 301 of the 600 come back</a:t>
            </a:r>
          </a:p>
          <a:p>
            <a:r>
              <a:t>retain - no action, no spend. Today each of those still costs you a meeting to conclude nothing.</a:t>
            </a:r>
          </a:p>
          <a:p>
            <a:r>
              <a:t>Under AdvisAR they are published as decisions with the evidence attached and a route to object.</a:t>
            </a:r>
          </a:p>
          <a:p>
            <a:r>
              <a:t>Nobody has to defend all 301; anybody can challenge one. And the contested minority gets the full</a:t>
            </a:r>
          </a:p>
          <a:p>
            <a:r>
              <a:t>seven-step treatment - the workshops, the dependency checks, the sequencing. Scarce facilitation</a:t>
            </a:r>
          </a:p>
          <a:p>
            <a:r>
              <a:t>goes only where it can change an answer, and that is exactly what makes six hundred tractable</a:t>
            </a:r>
          </a:p>
          <a:p>
            <a:r>
              <a:t>rather than twenty.</a:t>
            </a:r>
          </a:p>
          <a:p/>
          <a:p>
            <a:r>
              <a:t>Now path to market, which is the reusability line. The scoring engine was built against a</a:t>
            </a:r>
          </a:p>
          <a:p>
            <a:r>
              <a:t>completely different twenty-application portfolio - a separately generated dataset with a</a:t>
            </a:r>
          </a:p>
          <a:p>
            <a:r>
              <a:t>different shape. Northstar was constructed independently, by hand, as a test of the model, and it</a:t>
            </a:r>
          </a:p>
          <a:p>
            <a:r>
              <a:t>ran through the same code with no changes at all. That is the claim: nothing about healthcare is</a:t>
            </a:r>
          </a:p>
          <a:p>
            <a:r>
              <a:t>hard-coded. The thresholds, the weights and all sixteen rows of the disposition table are</a:t>
            </a:r>
          </a:p>
          <a:p>
            <a:r>
              <a:t>configuration rather than branching logic, so taking this into manufacturing or financial</a:t>
            </a:r>
          </a:p>
          <a:p>
            <a:r>
              <a:t>services is a re-tune of a config table, not a rebuild. It drops into an Aberdeen engagement as a</a:t>
            </a:r>
          </a:p>
          <a:p>
            <a:r>
              <a:t>repeatable offering with a known intake list and a known deliverable, instead of a bespoke</a:t>
            </a:r>
          </a:p>
          <a:p>
            <a:r>
              <a:t>analysis we rebuild every time.</a:t>
            </a:r>
          </a:p>
          <a:p/>
          <a:p>
            <a:r>
              <a:t>One practical note for the demo. The file we upload on stage is</a:t>
            </a:r>
          </a:p>
          <a:p>
            <a:r>
              <a:t>data/northstar/northstar-600-corrected-tool-vocabulary.csv - the same 600 applications translated</a:t>
            </a:r>
          </a:p>
          <a:p>
            <a:r>
              <a:t>into the tool's own column names. I checked that it totals to the same money as the engine run:</a:t>
            </a:r>
          </a:p>
          <a:p>
            <a:r>
              <a:t>25,816,000 gross and 17,409,000 net, to the dollar, with the same 301 / 174 / 81 / 44 / 0 spread.</a:t>
            </a:r>
          </a:p>
          <a:p>
            <a:r>
              <a:t>So the figures on this slide and the figures on the screen are the same figures, and if they ever</a:t>
            </a:r>
          </a:p>
          <a:p>
            <a:r>
              <a:t>diverge the engine run in the summary file is the one to trust.</a:t>
            </a:r>
          </a:p>
          <a:p/>
          <a:p>
            <a:r>
              <a:t>Two things we owe you before this is client-ready. One: the peer cost band. Cost per active user</a:t>
            </a:r>
          </a:p>
          <a:p>
            <a:r>
              <a:t>against peers is the single most influential input in the cost dimension, and right now it is</a:t>
            </a:r>
          </a:p>
          <a:p>
            <a:r>
              <a:t>modelled from the portfolio itself rather than measured against an external benchmark. We label</a:t>
            </a:r>
          </a:p>
          <a:p>
            <a:r>
              <a:t>it as modelled in every output, but a live engagement needs a real data source. Two: the pipeline</a:t>
            </a:r>
          </a:p>
          <a:p>
            <a:r>
              <a:t>in front of the engine. Of the 68 columns the tool derives, 31 are currently authored by hand</a:t>
            </a:r>
          </a:p>
          <a:p>
            <a:r>
              <a:t>rather than computed - AI classification, vendor end-of-support lookups, the clustering step, and</a:t>
            </a:r>
          </a:p>
          <a:p>
            <a:r>
              <a:t>five band mappings. When those are supplied, all 37 implemented derivations reproduce exactly, on</a:t>
            </a:r>
          </a:p>
          <a:p>
            <a:r>
              <a:t>every row, with zero mismatches. So the engine is right; the intake pipeline is the unfinished</a:t>
            </a:r>
          </a:p>
          <a:p>
            <a:r>
              <a:t>part, and the five band mappings are the cheapest place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ABERDEEN ADVISORS  ·  TEAM 12, HALLUCINATORS  ·  PROMPT #5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22960"/>
            <a:ext cx="1087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F2438"/>
                </a:solidFill>
                <a:latin typeface="Calibri"/>
              </a:rPr>
              <a:t>AdvisAR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869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4576D"/>
                </a:solidFill>
                <a:latin typeface="Calibri"/>
              </a:rPr>
              <a:t>Application rationalization that returns a defensible disposition for every application in a portfolio — with the evidence attached.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39696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22576"/>
            <a:ext cx="6720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THE PROBLEM — NORTHSTAR GLOBAL HEALTH, A HEALTH-SYSTEM 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87752"/>
            <a:ext cx="6720840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43200"/>
            <a:ext cx="6720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600 applications, SaaS and AI tools. </a:t>
            </a:r>
            <a:r>
              <a:rPr sz="1350" b="0">
                <a:solidFill>
                  <a:srgbClr val="44576D"/>
                </a:solidFill>
                <a:latin typeface="Calibri"/>
              </a:rPr>
              <a:t>Nobody can defend the portfolio line by line.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Rationalization today is a spreadsheet exercise: </a:t>
            </a:r>
            <a:r>
              <a:rPr sz="1350" b="0">
                <a:solidFill>
                  <a:srgbClr val="44576D"/>
                </a:solidFill>
                <a:latin typeface="Calibri"/>
              </a:rPr>
              <a:t>months of interviews, a facilitated workshop per application, inconsistent judgement between them.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Decisions arrive without a path back to the evidence, </a:t>
            </a:r>
            <a:r>
              <a:rPr sz="1350" b="0">
                <a:solidFill>
                  <a:srgbClr val="44576D"/>
                </a:solidFill>
                <a:latin typeface="Calibri"/>
              </a:rPr>
              <a:t>so each one gets relitigated in the next meeting.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Healthcare removes the easy answer. </a:t>
            </a:r>
            <a:r>
              <a:rPr sz="1350" b="0">
                <a:solidFill>
                  <a:srgbClr val="44576D"/>
                </a:solidFill>
                <a:latin typeface="Calibri"/>
              </a:rPr>
              <a:t>Patient-care criticality and compliance outrank cost — the expensive application is often the one that must not move.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time goes early. </a:t>
            </a:r>
            <a:r>
              <a:rPr sz="1350" b="0">
                <a:solidFill>
                  <a:srgbClr val="44576D"/>
                </a:solidFill>
                <a:latin typeface="Calibri"/>
              </a:rPr>
              <a:t>Across the seven-step process, it is inventory, analysis and the decision itself that consume the engagement. Execution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322576"/>
            <a:ext cx="3715207" cy="1444752"/>
          </a:xfrm>
          <a:prstGeom prst="roundRect">
            <a:avLst>
              <a:gd name="adj" fmla="val 55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2468880"/>
            <a:ext cx="50292" cy="115214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2487168"/>
            <a:ext cx="3148279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600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B8C6D2"/>
                </a:solidFill>
                <a:latin typeface="Calibri"/>
              </a:rPr>
              <a:t>applications, scored end to end in one run — not a sample of the portfolio. By hand it is a workshop each, which is why this never finishes.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3950208"/>
            <a:ext cx="3715207" cy="111556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4151376"/>
            <a:ext cx="31665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7A8C"/>
                </a:solidFill>
                <a:latin typeface="Calibri"/>
              </a:rPr>
              <a:t>THE SEVEN-STEP PROCESS WE BUILT TO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Discover → Inventory → Analyse → Decide → Roadmap → Execute → Monitor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Northstar Global Health is a fictional organisation. Every figure in this deck is synthetic and illustrative — product and vendor names are real; nothing here describes an actual client.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Problem  ·  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SOLUTION · ADVISAR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9536"/>
            <a:ext cx="1087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2438"/>
                </a:solidFill>
                <a:latin typeface="Calibri"/>
              </a:rPr>
              <a:t>Four gates, a 16-row lookup, and an honest intake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26464"/>
            <a:ext cx="97874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4576D"/>
                </a:solidFill>
                <a:latin typeface="Calibri"/>
              </a:rPr>
              <a:t>Every application comes out with one of five dispositions, a priority, a written rationale and a confidence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HOW A DISPOSITION IS REACHED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67128"/>
            <a:ext cx="5577840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22576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18 scored inputs, </a:t>
            </a:r>
            <a:r>
              <a:rPr sz="1350" b="0">
                <a:solidFill>
                  <a:srgbClr val="44576D"/>
                </a:solidFill>
                <a:latin typeface="Calibri"/>
              </a:rPr>
              <a:t>1–5 in half steps — 5 always the favourable end, so a high risk score means low risk.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Four dimensions: </a:t>
            </a:r>
            <a:r>
              <a:rPr sz="1350" b="0">
                <a:solidFill>
                  <a:srgbClr val="44576D"/>
                </a:solidFill>
                <a:latin typeface="Calibri"/>
              </a:rPr>
              <a:t>business value, technical health, cost efficiency, risk.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Each gated at 3.0 of 5. </a:t>
            </a:r>
            <a:r>
              <a:rPr sz="1350" b="0">
                <a:solidFill>
                  <a:srgbClr val="44576D"/>
                </a:solidFill>
                <a:latin typeface="Calibri"/>
              </a:rPr>
              <a:t>At or above passes, below fails.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pass/fail key is looked up in a 16-row decision table </a:t>
            </a:r>
            <a:r>
              <a:rPr sz="1350" b="0">
                <a:solidFill>
                  <a:srgbClr val="44576D"/>
                </a:solidFill>
                <a:latin typeface="Calibri"/>
              </a:rPr>
              <a:t>returning one of five dispositions — invest, retain, consolidate, replace, retire — plus a priority. The key doubles as the rationale.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Two guardrails then run: </a:t>
            </a:r>
            <a:r>
              <a:rPr sz="1350" b="0">
                <a:solidFill>
                  <a:srgbClr val="44576D"/>
                </a:solidFill>
                <a:latin typeface="Calibri"/>
              </a:rPr>
              <a:t>retire and replace are barred on an application still ramping; a duplicate inside an overlap cluster is folded into the named survivor instead.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Thresholds, weights and all 16 rows are configuration, not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01952"/>
            <a:ext cx="46936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THE INTAKE STORY — THE DIFFERENTIATOR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39712" y="2167128"/>
            <a:ext cx="4693615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9712" y="2322576"/>
            <a:ext cx="4693615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We tell the client exactly what to send. </a:t>
            </a:r>
            <a:r>
              <a:rPr sz="1350" b="0">
                <a:solidFill>
                  <a:srgbClr val="44576D"/>
                </a:solidFill>
                <a:latin typeface="Calibri"/>
              </a:rPr>
              <a:t>The model is 125 columns; the client supplies 57 and AdvisAR derives the other 68.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Most of it is files, not a form </a:t>
            </a:r>
            <a:r>
              <a:rPr sz="1350" b="0">
                <a:solidFill>
                  <a:srgbClr val="44576D"/>
                </a:solidFill>
                <a:latin typeface="Calibri"/>
              </a:rPr>
              <a:t>— five system extracts plus eight questions per application, about a ten-minute conversation.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A 21-item minimum viable intake </a:t>
            </a:r>
            <a:r>
              <a:rPr sz="1350" b="0">
                <a:solidFill>
                  <a:srgbClr val="44576D"/>
                </a:solidFill>
                <a:latin typeface="Calibri"/>
              </a:rPr>
              <a:t>still returns a disposition and a priority for every application, at capped confidence by design.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65 requirements </a:t>
            </a:r>
            <a:r>
              <a:rPr sz="1350" b="0">
                <a:solidFill>
                  <a:srgbClr val="44576D"/>
                </a:solidFill>
                <a:latin typeface="Calibri"/>
              </a:rPr>
              <a:t>mapped across the seven process steps.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712" y="4718304"/>
            <a:ext cx="4693615" cy="1115568"/>
          </a:xfrm>
          <a:prstGeom prst="roundRect">
            <a:avLst>
              <a:gd name="adj" fmla="val 55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39712" y="4864608"/>
            <a:ext cx="50292" cy="822959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7" y="4882896"/>
            <a:ext cx="412668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57 of 125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B8C6D2"/>
                </a:solidFill>
                <a:latin typeface="Calibri"/>
              </a:rPr>
              <a:t>columns is all we ask a client for. The tool derives the other 68 — and says so, column by column.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Scoring model, thresholds and the 16-row table: engine/  ·  column tiers and the minimum intake: data/client-intake/  ·  65 requirements: docs/requirements/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Solution  ·  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DEMO · NORTHSTAR'S 20 APPLICATIONS, AND THE SAME MODEL AT 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9536"/>
            <a:ext cx="1087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2438"/>
                </a:solidFill>
                <a:latin typeface="Calibri"/>
              </a:rPr>
              <a:t>Intake workbook in, defensible shortlist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26464"/>
            <a:ext cx="97874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4576D"/>
                </a:solidFill>
                <a:latin typeface="Calibri"/>
              </a:rPr>
              <a:t>All of it runs today: the 20-application walkthrough, the same model at 600, and the same scoring in the browser.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1   Intake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Client-supplied columns,
opened read-only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04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578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5866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2   Score &amp; 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18 inputs → 4 dimensions,
each gated at 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3   Look up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16-row table, then
the two guardrails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488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062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350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4   Explain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Disposition, priority,
rationale,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230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804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092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5   Shortlist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B8C6D2"/>
                </a:solidFill>
                <a:latin typeface="Calibri"/>
              </a:rPr>
              <a:t>11 no-action published,
9 rows to argue about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218688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WHAT RUNS TODAY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83864"/>
            <a:ext cx="5577840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9312"/>
            <a:ext cx="5577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command-line engine is the reference implementation. </a:t>
            </a:r>
            <a:r>
              <a:rPr sz="1350" b="0">
                <a:solidFill>
                  <a:srgbClr val="44576D"/>
                </a:solidFill>
                <a:latin typeface="Calibri"/>
              </a:rPr>
              <a:t>One dependency — openpyxl — no build step. It writes a 9-sheet workbook: dispositions, clusters, savings, agreement with the client's own labels, assumptions and sanity checks.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Every row explains itself — </a:t>
            </a:r>
            <a:r>
              <a:rPr sz="1350" b="0">
                <a:solidFill>
                  <a:srgbClr val="44576D"/>
                </a:solidFill>
                <a:latin typeface="Calibri"/>
              </a:rPr>
              <a:t>which dimension failed, at what score, the successor it folds into, and the evidence gap behind its confidence. On these 20: 17 high, 2 medium, 1 needs validation.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same engine, unchanged, scored 600 applications </a:t>
            </a:r>
            <a:r>
              <a:rPr sz="1350" b="0">
                <a:solidFill>
                  <a:srgbClr val="44576D"/>
                </a:solidFill>
                <a:latin typeface="Calibri"/>
              </a:rPr>
              <a:t>in one run — seconds, not weeks — and all 20 above kept their dispositions: 0 moved.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3218688"/>
            <a:ext cx="46936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THE WEB APP — UPLOAD AND 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9712" y="3483864"/>
            <a:ext cx="4693615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3639312"/>
            <a:ext cx="46936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1F7A8C"/>
                </a:solidFill>
                <a:latin typeface="Calibri"/>
              </a:rPr>
              <a:t>Upload a workbook or CSV and score it live. </a:t>
            </a:r>
            <a:r>
              <a:rPr sz="1350" b="0">
                <a:solidFill>
                  <a:srgbClr val="44576D"/>
                </a:solidFill>
                <a:latin typeface="Calibri"/>
              </a:rPr>
              <a:t>A real file dialogue, .xlsx or .csv in our intake schema. The page rewrites itself from the file: figures, decision mix, guardrails, clusters, and a per-row table with rationale and dimension scores. No server, no internet.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It agrees with the engine, measured: </a:t>
            </a:r>
            <a:r>
              <a:rPr sz="1350" b="0">
                <a:solidFill>
                  <a:srgbClr val="44576D"/>
                </a:solidFill>
                <a:latin typeface="Calibri"/>
              </a:rPr>
              <a:t>329 of 329 values match, 0 mismatches.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9712" y="5266944"/>
            <a:ext cx="4693615" cy="859536"/>
          </a:xfrm>
          <a:prstGeom prst="roundRect">
            <a:avLst>
              <a:gd name="adj" fmla="val 5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9712" y="5413248"/>
            <a:ext cx="50292" cy="566927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50607" y="5431536"/>
            <a:ext cx="4126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2438"/>
                </a:solidFill>
                <a:latin typeface="Calibri"/>
              </a:rPr>
              <a:t>329 / 329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576D"/>
                </a:solidFill>
                <a:latin typeface="Calibri"/>
              </a:rPr>
              <a:t>browser-versus-engine values agreed, 0 mismatches.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Engine: engine/score_northstar_v3.py and score_northstar_600_corrected.py  ·  browser scoring and the measured parity: src/apprat-ai-wireframe-v2.html, docs/wireframe-README.md  ·  deployed at hack-team-12.vercel.app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Demo  ·  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IMPACT · BUSINESS VALUE AND PATH TO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9536"/>
            <a:ext cx="1087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2438"/>
                </a:solidFill>
                <a:latin typeface="Calibri"/>
              </a:rPr>
              <a:t>$17.41M net in year one at 600 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0874959" cy="1170432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50292" cy="84124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664208"/>
            <a:ext cx="27432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$17.41M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B8C6D2"/>
                </a:solidFill>
                <a:latin typeface="Calibri"/>
              </a:rPr>
              <a:t>net first-year benefit, Northstar's 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$25.82M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gross annual avoidable
— recurs from year two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95111" y="1755648"/>
            <a:ext cx="7315" cy="621792"/>
          </a:xfrm>
          <a:prstGeom prst="rect">
            <a:avLst/>
          </a:prstGeom>
          <a:solidFill>
            <a:srgbClr val="2C4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9703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$8.41M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one-time transition cost
netted out (32.6% of gross)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77175" y="1755648"/>
            <a:ext cx="7315" cy="621792"/>
          </a:xfrm>
          <a:prstGeom prst="rect">
            <a:avLst/>
          </a:prstGeom>
          <a:solidFill>
            <a:srgbClr val="2C4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1767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301 of 600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need no action at all —
retain, no spend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59239" y="1755648"/>
            <a:ext cx="7315" cy="621792"/>
          </a:xfrm>
          <a:prstGeom prst="rect">
            <a:avLst/>
          </a:prstGeom>
          <a:solidFill>
            <a:srgbClr val="2C4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3831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$354.33M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portfolio run-rate the
savings come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926080"/>
            <a:ext cx="33506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WHAT CHANGES OPERATIONALLY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191256"/>
            <a:ext cx="3350666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46704"/>
            <a:ext cx="335066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The spread across 600: </a:t>
            </a:r>
            <a:r>
              <a:rPr sz="1250" b="0">
                <a:solidFill>
                  <a:srgbClr val="44576D"/>
                </a:solidFill>
                <a:latin typeface="Calibri"/>
              </a:rPr>
              <a:t>retain 301, invest 174, retire 81, consolidate 44, replace 0.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No-action outcomes get published, </a:t>
            </a:r>
            <a:r>
              <a:rPr sz="1250" b="0">
                <a:solidFill>
                  <a:srgbClr val="44576D"/>
                </a:solidFill>
                <a:latin typeface="Calibri"/>
              </a:rPr>
              <a:t>with a route to object — not a meeting. 301 of the 600 need no further conversation; nobody defends all 301, anybody can challenge one.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Only the contested minority </a:t>
            </a:r>
            <a:r>
              <a:rPr sz="1250" b="0">
                <a:solidFill>
                  <a:srgbClr val="44576D"/>
                </a:solidFill>
                <a:latin typeface="Calibri"/>
              </a:rPr>
              <a:t>gets the full seven-step treatment, so scarce facilitation goes where it can change an answer — which is what makes 600 tractable, not just 20.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0514" y="2926080"/>
            <a:ext cx="33506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WHY IT IS REPEATABLE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0514" y="3191256"/>
            <a:ext cx="3350666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0514" y="3346704"/>
            <a:ext cx="335066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The model is portfolio-agnostic. </a:t>
            </a:r>
            <a:r>
              <a:rPr sz="1250" b="0">
                <a:solidFill>
                  <a:srgbClr val="44576D"/>
                </a:solidFill>
                <a:latin typeface="Calibri"/>
              </a:rPr>
              <a:t>The engine was built against a different, independently generated 20-application portfolio; Northstar was built separately and scored through the same code with no changes.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Nothing sector-specific is hard-coded. </a:t>
            </a:r>
            <a:r>
              <a:rPr sz="1250" b="0">
                <a:solidFill>
                  <a:srgbClr val="44576D"/>
                </a:solidFill>
                <a:latin typeface="Calibri"/>
              </a:rPr>
              <a:t>Thresholds, weights and all 16 table rows are configuration, so a new sector is a re-tune, not a rebuild.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So it drops into any Aberdeen engagement, </a:t>
            </a:r>
            <a:r>
              <a:rPr sz="1250" b="0">
                <a:solidFill>
                  <a:srgbClr val="44576D"/>
                </a:solidFill>
                <a:latin typeface="Calibri"/>
              </a:rPr>
              <a:t>healthcare or not, as a repeatable offering rather than a one-off analysis.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26080"/>
            <a:ext cx="33506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WHAT THE DATA LIMITS · WHAT'S 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2660" y="3191256"/>
            <a:ext cx="3350666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2660" y="3346704"/>
            <a:ext cx="335066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One cost input — consumption price variance — is absent from this client's source data, </a:t>
            </a:r>
            <a:r>
              <a:rPr sz="1250" b="0">
                <a:solidFill>
                  <a:srgbClr val="44576D"/>
                </a:solidFill>
                <a:latin typeface="Calibri"/>
              </a:rPr>
              <a:t>so it is left unscored rather than assumed.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Consolidation is gated by migration evidence, not redundancy alone: </a:t>
            </a:r>
            <a:r>
              <a:rPr sz="1250" b="0">
                <a:solidFill>
                  <a:srgbClr val="44576D"/>
                </a:solidFill>
                <a:latin typeface="Calibri"/>
              </a:rPr>
              <a:t>overlap is wide — 35 groups — but only 44 applications can be shown to land somewhere. A limit of the data supplied, not of the method.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Next: a real peer cost benchmark, </a:t>
            </a:r>
            <a:r>
              <a:rPr sz="1250" b="0">
                <a:solidFill>
                  <a:srgbClr val="44576D"/>
                </a:solidFill>
                <a:latin typeface="Calibri"/>
              </a:rPr>
              <a:t>and closing the derived-column pipeline — 31 of 68 columns are still authored by hand.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Figures above are the 600-application Northstar run: northstar-600-corrected-summary.md. The 20-application walkthrough ($5.30M net) and our own 20-application dataset ($5.82M net) are separate portfolios; nothing is blended. The CIO's 15% target, $53.15M, is not met on first-year net.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Impact  ·  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