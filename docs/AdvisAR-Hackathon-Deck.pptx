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Northstar Global Health is our health system: about 600 applications, SaaS and AI tools, and a</a:t>
            </a:r>
          </a:p>
          <a:p>
            <a:r>
              <a:t>CIO under pressure to take cost out of technology without breaking a clinical workflow that</a:t>
            </a:r>
          </a:p>
          <a:p>
            <a:r>
              <a:t>somebody depends on.</a:t>
            </a:r>
          </a:p>
          <a:p/>
          <a:p>
            <a:r>
              <a:t>The way this gets done today is a spreadsheet and a calendar. You interview owners, you run a</a:t>
            </a:r>
          </a:p>
          <a:p>
            <a:r>
              <a:t>facilitated workshop per application, and because those workshops happen months apart with</a:t>
            </a:r>
          </a:p>
          <a:p>
            <a:r>
              <a:t>different people in the room, the judgement is not consistent between them. That is why</a:t>
            </a:r>
          </a:p>
          <a:p>
            <a:r>
              <a:t>rationalization rarely finishes at portfolio scale - it is not that nobody wants to do it, it is</a:t>
            </a:r>
          </a:p>
          <a:p>
            <a:r>
              <a:t>that the unit cost per application is a meeting.</a:t>
            </a:r>
          </a:p>
          <a:p/>
          <a:p>
            <a:r>
              <a:t>And the decisions that come out have no traceable path back to evidence. So when a business owner</a:t>
            </a:r>
          </a:p>
          <a:p>
            <a:r>
              <a:t>objects, there is nothing to point at, and the decision gets relitigated. That is the real</a:t>
            </a:r>
          </a:p>
          <a:p>
            <a:r>
              <a:t>failure mode: not a wrong answer, an unarguable one.</a:t>
            </a:r>
          </a:p>
          <a:p/>
          <a:p>
            <a:r>
              <a:t>Healthcare makes it harder in a specific way. You cannot rank by cost and cut from the top. In</a:t>
            </a:r>
          </a:p>
          <a:p>
            <a:r>
              <a:t>Northstar's portfolio the largest single line item is the core EHR at 8.75 million a year, and it</a:t>
            </a:r>
          </a:p>
          <a:p>
            <a:r>
              <a:t>is exactly the thing you must not touch. Patient-care criticality and compliance outrank cost, so</a:t>
            </a:r>
          </a:p>
          <a:p>
            <a:r>
              <a:t>the expensive application is very often the one that has to stay.</a:t>
            </a:r>
          </a:p>
          <a:p/>
          <a:p>
            <a:r>
              <a:t>We built against a seven-step rationalization process - discover, inventory, analyse, decide,</a:t>
            </a:r>
          </a:p>
          <a:p>
            <a:r>
              <a:t>roadmap, execute, monitor - and wrote 65 requirements mapped across all seven. Worth saying where</a:t>
            </a:r>
          </a:p>
          <a:p>
            <a:r>
              <a:t>the time actually goes: steps two through four. Gathering the data, mapping the overlap, and</a:t>
            </a:r>
          </a:p>
          <a:p>
            <a:r>
              <a:t>reaching a decision. Execution is not the bottleneck. Getting to a decision you can defend is the</a:t>
            </a:r>
          </a:p>
          <a:p>
            <a:r>
              <a:t>bottleneck, and that is the part we automated.</a:t>
            </a:r>
          </a:p>
          <a:p/>
          <a:p>
            <a:r>
              <a:t>One disclaimer that covers the whole deck: Northstar is fictional and every number you will see</a:t>
            </a:r>
          </a:p>
          <a:p>
            <a:r>
              <a:t>is synthetic. The product and vendor names are real; the portfolio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AdvisAR, and the mechanics are deliberately boring, because boring is what survives a</a:t>
            </a:r>
          </a:p>
          <a:p>
            <a:r>
              <a:t>steering committee.</a:t>
            </a:r>
          </a:p>
          <a:p/>
          <a:p>
            <a:r>
              <a:t>Eighteen inputs per application, each scored one to five in half steps. Five is always the</a:t>
            </a:r>
          </a:p>
          <a:p>
            <a:r>
              <a:t>favourable end - that matters for risk and cost, where five means controlled and cheap, so you</a:t>
            </a:r>
          </a:p>
          <a:p>
            <a:r>
              <a:t>never have to remember which way a number points. Sixteen of the eighteen carry weight; two,</a:t>
            </a:r>
          </a:p>
          <a:p>
            <a:r>
              <a:t>absolute cost band and end-user perceived quality, are collected and stored at weight zero,</a:t>
            </a:r>
          </a:p>
          <a:p>
            <a:r>
              <a:t>because we decided cost should move priority without being able to condemn something on its own.</a:t>
            </a:r>
          </a:p>
          <a:p/>
          <a:p>
            <a:r>
              <a:t>Those roll into four dimensions - business value, technical health, cost efficiency, risk - and</a:t>
            </a:r>
          </a:p>
          <a:p>
            <a:r>
              <a:t>each dimension is gated at 3.0. At or above, it passes. Below, it fails. So every application</a:t>
            </a:r>
          </a:p>
          <a:p>
            <a:r>
              <a:t>produces a four-character pass/fail key, and that key is looked up in a sixteen-row table which</a:t>
            </a:r>
          </a:p>
          <a:p>
            <a:r>
              <a:t>returns one of five dispositions plus a priority. Every possible combination has a row, so there</a:t>
            </a:r>
          </a:p>
          <a:p>
            <a:r>
              <a:t>is no undefined case, and the key itself is the rationale: "business value passes, technical</a:t>
            </a:r>
          </a:p>
          <a:p>
            <a:r>
              <a:t>health passes, cost efficiency fails, risk passes" is a sentence a CIO can argue with.</a:t>
            </a:r>
          </a:p>
          <a:p/>
          <a:p>
            <a:r>
              <a:t>Two guardrails run after the lookup, and they matter. First, retire and replace are barred</a:t>
            </a:r>
          </a:p>
          <a:p>
            <a:r>
              <a:t>outright for an application that has not finished ramping up - if the gates say retire on a</a:t>
            </a:r>
          </a:p>
          <a:p>
            <a:r>
              <a:t>young pilot, that becomes a funded invest instead, because you paid for it and have not learned</a:t>
            </a:r>
          </a:p>
          <a:p>
            <a:r>
              <a:t>anything from it yet. Second, if an application is the duplicate inside an overlap cluster and</a:t>
            </a:r>
          </a:p>
          <a:p>
            <a:r>
              <a:t>there is a named survivor holding the same capability, it is folded into that survivor rather</a:t>
            </a:r>
          </a:p>
          <a:p>
            <a:r>
              <a:t>than switched off outright - the capability persists, so somebody's workflow does not simply</a:t>
            </a:r>
          </a:p>
          <a:p>
            <a:r>
              <a:t>disappear. On Northstar those two guardrails moved five rows. Both are written onto the row, so</a:t>
            </a:r>
          </a:p>
          <a:p>
            <a:r>
              <a:t>you can always see what the gates said and what overrode it.</a:t>
            </a:r>
          </a:p>
          <a:p/>
          <a:p>
            <a:r>
              <a:t>Now the part I would actually sell, which is intake. The hardest question in a rationalization</a:t>
            </a:r>
          </a:p>
          <a:p>
            <a:r>
              <a:t>engagement is "what do you need from us", and the usual answer is a two-hundred-question survey</a:t>
            </a:r>
          </a:p>
          <a:p>
            <a:r>
              <a:t>that comes back half empty. Our answer is precise: the model has 125 columns, we ask you for 57,</a:t>
            </a:r>
          </a:p>
          <a:p>
            <a:r>
              <a:t>and we derive 68. Most of it is files rather than typing - five system extracts, plus eight</a:t>
            </a:r>
          </a:p>
          <a:p>
            <a:r>
              <a:t>questions per application aimed at the named owner, which is about ten minutes each.</a:t>
            </a:r>
          </a:p>
          <a:p/>
          <a:p>
            <a:r>
              <a:t>And there is a floor. A 21-item minimum intake still returns a disposition and a priority for</a:t>
            </a:r>
          </a:p>
          <a:p>
            <a:r>
              <a:t>every application. It does not pretend to be as good: confidence is capped at medium, because</a:t>
            </a:r>
          </a:p>
          <a:p>
            <a:r>
              <a:t>that intake populates only about half the fields the model consumes, and high confidence is</a:t>
            </a:r>
          </a:p>
          <a:p>
            <a:r>
              <a:t>deliberately unreachable there. That is the honest version of "start now with what you have".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me walk Northstar's flow, and I will be precise about what is built and what is not.</a:t>
            </a:r>
          </a:p>
          <a:p/>
          <a:p>
            <a:r>
              <a:t>Step one, intake. A workbook of the columns we asked the client for. The engine opens it</a:t>
            </a:r>
          </a:p>
          <a:p>
            <a:r>
              <a:t>read-only and never writes back to it.</a:t>
            </a:r>
          </a:p>
          <a:p/>
          <a:p>
            <a:r>
              <a:t>Step two, scoring. Eighteen inputs derived and scored, rolled into the four dimensions, each</a:t>
            </a:r>
          </a:p>
          <a:p>
            <a:r>
              <a:t>gated at 3.0. Where an input has no source it is skipped and the dimension renormalises over what</a:t>
            </a:r>
          </a:p>
          <a:p>
            <a:r>
              <a:t>is actually populated - it does not silently score a blank as a zero.</a:t>
            </a:r>
          </a:p>
          <a:p/>
          <a:p>
            <a:r>
              <a:t>Step three, the lookup and the two guardrails I just described.</a:t>
            </a:r>
          </a:p>
          <a:p/>
          <a:p>
            <a:r>
              <a:t>Step four is the one that makes this usable. Every row comes out with its rationale written in</a:t>
            </a:r>
          </a:p>
          <a:p>
            <a:r>
              <a:t>prose - not just "consolidate", but which dimension failed, at what score, which input drove it,</a:t>
            </a:r>
          </a:p>
          <a:p>
            <a:r>
              <a:t>and which application it folds into. Plus a confidence level and the specific evidence gap behind</a:t>
            </a:r>
          </a:p>
          <a:p>
            <a:r>
              <a:t>that level. On Northstar's twenty applications: seventeen rows at high confidence, two at medium,</a:t>
            </a:r>
          </a:p>
          <a:p>
            <a:r>
              <a:t>and one - the video-conferencing tool - held as needs validation rather than given a</a:t>
            </a:r>
          </a:p>
          <a:p>
            <a:r>
              <a:t>recommendation at all, because its telehealth and conference-room dependencies were not</a:t>
            </a:r>
          </a:p>
          <a:p>
            <a:r>
              <a:t>evidenced. That sixth state, needs validation, is deliberately not one of the five dispositions.</a:t>
            </a:r>
          </a:p>
          <a:p/>
          <a:p>
            <a:r>
              <a:t>Step five is the point. Eleven applications come back retain: no action, no spend. Nine rows are</a:t>
            </a:r>
          </a:p>
          <a:p>
            <a:r>
              <a:t>contested - seven consolidate, one invest, one retire. Those nine are the shortlist a CIO</a:t>
            </a:r>
          </a:p>
          <a:p>
            <a:r>
              <a:t>actually argues about, and they fall out of six overlap clusters the engine found: the two EHRs,</a:t>
            </a:r>
          </a:p>
          <a:p>
            <a:r>
              <a:t>collaboration, ambient clinical documentation, ITSM, analytics, and HCM. In each cluster the</a:t>
            </a:r>
          </a:p>
          <a:p>
            <a:r>
              <a:t>engine names the survivor and says why. The core EHR holds all three contested capabilities as</a:t>
            </a:r>
          </a:p>
          <a:p>
            <a:r>
              <a:t>primary, with 29,400 active users, and scores retain independently - so the second EHR folds into</a:t>
            </a:r>
          </a:p>
          <a:p>
            <a:r>
              <a:t>it rather than the other way round.</a:t>
            </a:r>
          </a:p>
          <a:p/>
          <a:p>
            <a:r>
              <a:t>On how it runs: Python 3 with exactly one third-party dependency, openpyxl. No build step, no</a:t>
            </a:r>
          </a:p>
          <a:p>
            <a:r>
              <a:t>package manager, nothing to compile. The scoring run points at its source workbook through one</a:t>
            </a:r>
          </a:p>
          <a:p>
            <a:r>
              <a:t>constant at the top of the file. Output is a nine-sheet workbook, including a sanity-checks sheet</a:t>
            </a:r>
          </a:p>
          <a:p>
            <a:r>
              <a:t>and a sheet comparing our dispositions against the client's own labels - which is how we found</a:t>
            </a:r>
          </a:p>
          <a:p>
            <a:r>
              <a:t>the places we disagree with her, and why.</a:t>
            </a:r>
          </a:p>
          <a:p/>
          <a:p>
            <a:r>
              <a:t>On the UI, and I want to be straight about this: it is at hack-team-12.vercel.app and it shows</a:t>
            </a:r>
          </a:p>
          <a:p>
            <a:r>
              <a:t>the three views a CIO works in - executive overview, the workbench with the evidence rail, and</a:t>
            </a:r>
          </a:p>
          <a:p>
            <a:r>
              <a:t>the full decision detail for a single application. It is a wireframe on illustrative data.</a:t>
            </a:r>
          </a:p>
          <a:p>
            <a:r>
              <a:t>Navigation, the cluster review buttons, selecting an application to load its evidence, and the</a:t>
            </a:r>
          </a:p>
          <a:p>
            <a:r>
              <a:t>analyze action work. Upload inventory and export decisions are not wired, and we left them</a:t>
            </a:r>
          </a:p>
          <a:p>
            <a:r>
              <a:t>visibly inert rather than faking them. The scored numbers you have seen come from the engine, not</a:t>
            </a:r>
          </a:p>
          <a:p>
            <a:r>
              <a:t>from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money first. Northstar's twenty applications carry a 43.25 million dollar annual run-rate. We</a:t>
            </a:r>
          </a:p>
          <a:p>
            <a:r>
              <a:t>identify 9.15 million of gross annual avoidable cost, net out 3.85 million of one-time transition</a:t>
            </a:r>
          </a:p>
          <a:p>
            <a:r>
              <a:t>cost - migration, interface cutover, contract exit, which is about 42 percent of the gross - and</a:t>
            </a:r>
          </a:p>
          <a:p>
            <a:r>
              <a:t>land at 5.30 million net in the first year. From year two the gross recurs, because the</a:t>
            </a:r>
          </a:p>
          <a:p>
            <a:r>
              <a:t>transition cost is one time only.</a:t>
            </a:r>
          </a:p>
          <a:p/>
          <a:p>
            <a:r>
              <a:t>Two honesty points on that number, both of which are in the workbook. First, 4.93 million of the</a:t>
            </a:r>
          </a:p>
          <a:p>
            <a:r>
              <a:t>5.30 is rated safe under the client's own high-confidence rule; the remaining 370,000 is the</a:t>
            </a:r>
          </a:p>
          <a:p>
            <a:r>
              <a:t>single retire, which we hold as potential rather than safe because its dependencies are not</a:t>
            </a:r>
          </a:p>
          <a:p>
            <a:r>
              <a:t>evidenced. Second, the CIO's stated savings target was fifteen percent of run-rate, about 6.49</a:t>
            </a:r>
          </a:p>
          <a:p>
            <a:r>
              <a:t>million. We do not hit that on first-year net. We do hit it on gross avoidable from year two</a:t>
            </a:r>
          </a:p>
          <a:p>
            <a:r>
              <a:t>onward. We would rather say that plainly than quietly reclassify a transition cost to make the</a:t>
            </a:r>
          </a:p>
          <a:p>
            <a:r>
              <a:t>target.</a:t>
            </a:r>
          </a:p>
          <a:p/>
          <a:p>
            <a:r>
              <a:t>What actually changes operationally matters more to me than the number. Eleven of the twenty come</a:t>
            </a:r>
          </a:p>
          <a:p>
            <a:r>
              <a:t>back retain - no action, no spend. Today each of those still costs you a meeting to conclude</a:t>
            </a:r>
          </a:p>
          <a:p>
            <a:r>
              <a:t>nothing. Under AdvisAR they are published as decisions with the evidence attached and a route to</a:t>
            </a:r>
          </a:p>
          <a:p>
            <a:r>
              <a:t>object. Nobody has to defend all eleven; anybody can challenge one. And the nine contested rows</a:t>
            </a:r>
          </a:p>
          <a:p>
            <a:r>
              <a:t>get the full seven-step treatment - the workshops, the dependency checks, the sequencing. Scarce</a:t>
            </a:r>
          </a:p>
          <a:p>
            <a:r>
              <a:t>facilitation goes only where it can change an answer, and that is what makes this work at six</a:t>
            </a:r>
          </a:p>
          <a:p>
            <a:r>
              <a:t>hundred applications instead of twenty.</a:t>
            </a:r>
          </a:p>
          <a:p/>
          <a:p>
            <a:r>
              <a:t>Now path to market, which is the reusability line. The scoring engine was built against a</a:t>
            </a:r>
          </a:p>
          <a:p>
            <a:r>
              <a:t>completely different twenty-application portfolio - a separately generated dataset with a</a:t>
            </a:r>
          </a:p>
          <a:p>
            <a:r>
              <a:t>different shape. Northstar was constructed independently, by hand, as a test of the model, and it</a:t>
            </a:r>
          </a:p>
          <a:p>
            <a:r>
              <a:t>ran through the same code with no changes at all. That is the claim: nothing about healthcare is</a:t>
            </a:r>
          </a:p>
          <a:p>
            <a:r>
              <a:t>hard-coded. The thresholds, the weights and all sixteen rows of the disposition table are</a:t>
            </a:r>
          </a:p>
          <a:p>
            <a:r>
              <a:t>configuration rather than branching logic, so taking this into manufacturing or financial</a:t>
            </a:r>
          </a:p>
          <a:p>
            <a:r>
              <a:t>services is a re-tune of a config table, not a rebuild. It drops into an Aberdeen engagement as a</a:t>
            </a:r>
          </a:p>
          <a:p>
            <a:r>
              <a:t>repeatable offering with a known intake list and a known deliverable, instead of a bespoke</a:t>
            </a:r>
          </a:p>
          <a:p>
            <a:r>
              <a:t>analysis we rebuild every time.</a:t>
            </a:r>
          </a:p>
          <a:p/>
          <a:p>
            <a:r>
              <a:t>Two things we owe you before this is client-ready. One: the peer cost band. Cost per active user</a:t>
            </a:r>
          </a:p>
          <a:p>
            <a:r>
              <a:t>against peers is the single most influential input in the cost dimension, and right now it is</a:t>
            </a:r>
          </a:p>
          <a:p>
            <a:r>
              <a:t>modelled from the portfolio itself rather than measured against an external benchmark. We label</a:t>
            </a:r>
          </a:p>
          <a:p>
            <a:r>
              <a:t>it as modelled in every output, but a live engagement needs a real data source. Two: the pipeline</a:t>
            </a:r>
          </a:p>
          <a:p>
            <a:r>
              <a:t>in front of the engine. Of the 68 columns the tool derives, 31 are currently authored by hand</a:t>
            </a:r>
          </a:p>
          <a:p>
            <a:r>
              <a:t>rather than computed - AI classification, vendor end-of-support lookups, the clustering step, and</a:t>
            </a:r>
          </a:p>
          <a:p>
            <a:r>
              <a:t>five band mappings. When those are supplied, all 37 implemented derivations reproduce exactly, on</a:t>
            </a:r>
          </a:p>
          <a:p>
            <a:r>
              <a:t>every row, with zero mismatches. So the engine is right; the intake pipeline is the unfinished</a:t>
            </a:r>
          </a:p>
          <a:p>
            <a:r>
              <a:t>part, and the five band mappings are the cheapest place to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566928" cy="5029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C8A9B"/>
                </a:solidFill>
                <a:latin typeface="Calibri"/>
              </a:rPr>
              <a:t>ABERDEEN ADVISORS  ·  TEAM 12, HALLUCINATORS  ·  PROMPT #5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22960"/>
            <a:ext cx="108749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F2438"/>
                </a:solidFill>
                <a:latin typeface="Calibri"/>
              </a:rPr>
              <a:t>AdvisAR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72768"/>
            <a:ext cx="8699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4576D"/>
                </a:solidFill>
                <a:latin typeface="Calibri"/>
              </a:rPr>
              <a:t>Application rationalization that returns a defensible disposition for every application in a portfolio — with the evidence attached.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39696"/>
            <a:ext cx="10874959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22576"/>
            <a:ext cx="6720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THE PROBLEM — NORTHSTAR GLOBAL HEALTH, A HEALTH-SYSTEM CIO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87752"/>
            <a:ext cx="6720840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743200"/>
            <a:ext cx="6720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Roughly 600 applications, SaaS and AI tools. </a:t>
            </a:r>
            <a:r>
              <a:rPr sz="1350" b="0">
                <a:solidFill>
                  <a:srgbClr val="44576D"/>
                </a:solidFill>
                <a:latin typeface="Calibri"/>
              </a:rPr>
              <a:t>Nobody can defend the portfolio line by line.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Rationalization today is a spreadsheet exercise: </a:t>
            </a:r>
            <a:r>
              <a:rPr sz="1350" b="0">
                <a:solidFill>
                  <a:srgbClr val="44576D"/>
                </a:solidFill>
                <a:latin typeface="Calibri"/>
              </a:rPr>
              <a:t>months of interviews, a facilitated workshop per application, inconsistent judgement between them.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Decisions arrive without a path back to the evidence, </a:t>
            </a:r>
            <a:r>
              <a:rPr sz="1350" b="0">
                <a:solidFill>
                  <a:srgbClr val="44576D"/>
                </a:solidFill>
                <a:latin typeface="Calibri"/>
              </a:rPr>
              <a:t>so each one gets relitigated in the next meeting.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Healthcare removes the easy answer. </a:t>
            </a:r>
            <a:r>
              <a:rPr sz="1350" b="0">
                <a:solidFill>
                  <a:srgbClr val="44576D"/>
                </a:solidFill>
                <a:latin typeface="Calibri"/>
              </a:rPr>
              <a:t>Patient-care criticality and compliance outrank cost — the expensive application is often the one that must not move.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The time goes early. </a:t>
            </a:r>
            <a:r>
              <a:rPr sz="1350" b="0">
                <a:solidFill>
                  <a:srgbClr val="44576D"/>
                </a:solidFill>
                <a:latin typeface="Calibri"/>
              </a:rPr>
              <a:t>Across the seven-step process, it is inventory, analysis and the decision itself that consume the engagement. Execution is not the bottleneck.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322576"/>
            <a:ext cx="3715207" cy="1444752"/>
          </a:xfrm>
          <a:prstGeom prst="roundRect">
            <a:avLst>
              <a:gd name="adj" fmla="val 5500"/>
            </a:avLst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2468880"/>
            <a:ext cx="50292" cy="1152144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9016" y="2487168"/>
            <a:ext cx="3148279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~600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B8C6D2"/>
                </a:solidFill>
                <a:latin typeface="Calibri"/>
              </a:rPr>
              <a:t>applications in scope. One facilitated workshop each is why portfolio-wide rationalization never finishes.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3950208"/>
            <a:ext cx="3715207" cy="1115568"/>
          </a:xfrm>
          <a:prstGeom prst="roundRect">
            <a:avLst>
              <a:gd name="adj" fmla="val 60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4151376"/>
            <a:ext cx="316656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7A8C"/>
                </a:solidFill>
                <a:latin typeface="Calibri"/>
              </a:rPr>
              <a:t>THE SEVEN-STEP PROCESS WE BUILT TO</a:t>
            </a:r>
          </a:p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 i="0">
                <a:solidFill>
                  <a:srgbClr val="0F2438"/>
                </a:solidFill>
                <a:latin typeface="Calibri"/>
              </a:rPr>
              <a:t>Discover → Inventory → Analyse → Decide → Roadmap → Execute → Monitor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144768"/>
            <a:ext cx="10874959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291072"/>
            <a:ext cx="83603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C8A9B"/>
                </a:solidFill>
                <a:latin typeface="Calibri"/>
              </a:rPr>
              <a:t>Northstar Global Health is a fictional organisation. Every figure in this deck is synthetic and illustrative — product and vendor names are real; nothing here describes an actual client.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5887" y="6291072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A9B"/>
                </a:solidFill>
                <a:latin typeface="Calibri"/>
              </a:rPr>
              <a:t>AdvisAR  ·  Problem  ·  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566928" cy="5029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C8A9B"/>
                </a:solidFill>
                <a:latin typeface="Calibri"/>
              </a:rPr>
              <a:t>SOLUTION · ADVISAR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9536"/>
            <a:ext cx="1087495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2438"/>
                </a:solidFill>
                <a:latin typeface="Calibri"/>
              </a:rPr>
              <a:t>Four gates, a 16-row lookup, and an honest intake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26464"/>
            <a:ext cx="97874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4576D"/>
                </a:solidFill>
                <a:latin typeface="Calibri"/>
              </a:rPr>
              <a:t>Every application comes out with one of five dispositions, a priority, a written rationale and a confidence level.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HOW A DISPOSITION IS REACHED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67128"/>
            <a:ext cx="5577840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22576"/>
            <a:ext cx="5577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18 scored inputs, </a:t>
            </a:r>
            <a:r>
              <a:rPr sz="1350" b="0">
                <a:solidFill>
                  <a:srgbClr val="44576D"/>
                </a:solidFill>
                <a:latin typeface="Calibri"/>
              </a:rPr>
              <a:t>1–5 in half steps — 5 always the favourable end, so a high risk score means low risk.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Four dimensions: </a:t>
            </a:r>
            <a:r>
              <a:rPr sz="1350" b="0">
                <a:solidFill>
                  <a:srgbClr val="44576D"/>
                </a:solidFill>
                <a:latin typeface="Calibri"/>
              </a:rPr>
              <a:t>business value, technical health, cost efficiency, risk.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Each gated at 3.0 of 5. </a:t>
            </a:r>
            <a:r>
              <a:rPr sz="1350" b="0">
                <a:solidFill>
                  <a:srgbClr val="44576D"/>
                </a:solidFill>
                <a:latin typeface="Calibri"/>
              </a:rPr>
              <a:t>At or above passes, below fails.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The pass/fail key is looked up in a 16-row decision table </a:t>
            </a:r>
            <a:r>
              <a:rPr sz="1350" b="0">
                <a:solidFill>
                  <a:srgbClr val="44576D"/>
                </a:solidFill>
                <a:latin typeface="Calibri"/>
              </a:rPr>
              <a:t>returning one of five dispositions — invest, retain, consolidate, replace, retire — plus a priority. The key doubles as the rationale.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Two guardrails then run: </a:t>
            </a:r>
            <a:r>
              <a:rPr sz="1350" b="0">
                <a:solidFill>
                  <a:srgbClr val="44576D"/>
                </a:solidFill>
                <a:latin typeface="Calibri"/>
              </a:rPr>
              <a:t>retire and replace are barred on an application still ramping; a duplicate inside an overlap cluster is folded into the named survivor instead.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Thresholds, weights and all 16 rows are configuration, not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01952"/>
            <a:ext cx="46936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THE INTAKE STORY — THE DIFFERENTIATOR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39712" y="2167128"/>
            <a:ext cx="4693615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39712" y="2322576"/>
            <a:ext cx="4693615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We tell the client exactly what to send. </a:t>
            </a:r>
            <a:r>
              <a:rPr sz="1350" b="0">
                <a:solidFill>
                  <a:srgbClr val="44576D"/>
                </a:solidFill>
                <a:latin typeface="Calibri"/>
              </a:rPr>
              <a:t>The model is 125 columns; the client supplies 57 and AdvisAR derives the other 68.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Most of it is files, not a form </a:t>
            </a:r>
            <a:r>
              <a:rPr sz="1350" b="0">
                <a:solidFill>
                  <a:srgbClr val="44576D"/>
                </a:solidFill>
                <a:latin typeface="Calibri"/>
              </a:rPr>
              <a:t>— five system extracts plus eight questions per application, about a ten-minute conversation.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A 21-item minimum viable intake </a:t>
            </a:r>
            <a:r>
              <a:rPr sz="1350" b="0">
                <a:solidFill>
                  <a:srgbClr val="44576D"/>
                </a:solidFill>
                <a:latin typeface="Calibri"/>
              </a:rPr>
              <a:t>still returns a disposition and a priority for every application, at capped confidence by design.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65 requirements </a:t>
            </a:r>
            <a:r>
              <a:rPr sz="1350" b="0">
                <a:solidFill>
                  <a:srgbClr val="44576D"/>
                </a:solidFill>
                <a:latin typeface="Calibri"/>
              </a:rPr>
              <a:t>mapped across the seven process steps.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9712" y="4718304"/>
            <a:ext cx="4693615" cy="1115568"/>
          </a:xfrm>
          <a:prstGeom prst="roundRect">
            <a:avLst>
              <a:gd name="adj" fmla="val 5500"/>
            </a:avLst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39712" y="4864608"/>
            <a:ext cx="50292" cy="822959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7" y="4882896"/>
            <a:ext cx="412668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57 of 125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B8C6D2"/>
                </a:solidFill>
                <a:latin typeface="Calibri"/>
              </a:rPr>
              <a:t>columns is all we ask a client for. The tool derives the other 68 — and says so, column by column.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144768"/>
            <a:ext cx="10874959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291072"/>
            <a:ext cx="83603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C8A9B"/>
                </a:solidFill>
                <a:latin typeface="Calibri"/>
              </a:rPr>
              <a:t>Scoring model, thresholds and the 16-row table: engine/  ·  column tiers and the minimum intake: data/client-intake/  ·  65 requirements: docs/requirements/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5887" y="6291072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A9B"/>
                </a:solidFill>
                <a:latin typeface="Calibri"/>
              </a:rPr>
              <a:t>AdvisAR  ·  Solution  ·  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566928" cy="5029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C8A9B"/>
                </a:solidFill>
                <a:latin typeface="Calibri"/>
              </a:rPr>
              <a:t>DEMO · NORTHSTAR'S 20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9536"/>
            <a:ext cx="1087495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2438"/>
                </a:solidFill>
                <a:latin typeface="Calibri"/>
              </a:rPr>
              <a:t>Intake workbook in, defensible shortlist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26464"/>
            <a:ext cx="97874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4576D"/>
                </a:solidFill>
                <a:latin typeface="Calibri"/>
              </a:rPr>
              <a:t>What follows is what the engine verifiably produces today, run over Northstar's sample workbook.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01952"/>
            <a:ext cx="1993392" cy="1005840"/>
          </a:xfrm>
          <a:prstGeom prst="roundRect">
            <a:avLst>
              <a:gd name="adj" fmla="val 85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5740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438"/>
                </a:solidFill>
                <a:latin typeface="Calibri"/>
              </a:rPr>
              <a:t>1   Intake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44576D"/>
                </a:solidFill>
                <a:latin typeface="Calibri"/>
              </a:rPr>
              <a:t>Client-supplied columns,
opened read-only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0048" y="2267712"/>
            <a:ext cx="187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7A8C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5788" y="1901952"/>
            <a:ext cx="1993392" cy="1005840"/>
          </a:xfrm>
          <a:prstGeom prst="roundRect">
            <a:avLst>
              <a:gd name="adj" fmla="val 85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58668" y="205740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438"/>
                </a:solidFill>
                <a:latin typeface="Calibri"/>
              </a:rPr>
              <a:t>2   Score &amp; gate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44576D"/>
                </a:solidFill>
                <a:latin typeface="Calibri"/>
              </a:rPr>
              <a:t>18 inputs → 4 dimensions,
each gated at 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2267712"/>
            <a:ext cx="187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7A8C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3208" y="1901952"/>
            <a:ext cx="1993392" cy="1005840"/>
          </a:xfrm>
          <a:prstGeom prst="roundRect">
            <a:avLst>
              <a:gd name="adj" fmla="val 85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6088" y="205740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438"/>
                </a:solidFill>
                <a:latin typeface="Calibri"/>
              </a:rPr>
              <a:t>3   Look up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44576D"/>
                </a:solidFill>
                <a:latin typeface="Calibri"/>
              </a:rPr>
              <a:t>16-row table, then
the two guardrails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4888" y="2267712"/>
            <a:ext cx="187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7A8C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0628" y="1901952"/>
            <a:ext cx="1993392" cy="1005840"/>
          </a:xfrm>
          <a:prstGeom prst="roundRect">
            <a:avLst>
              <a:gd name="adj" fmla="val 85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3508" y="205740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2438"/>
                </a:solidFill>
                <a:latin typeface="Calibri"/>
              </a:rPr>
              <a:t>4   Explain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44576D"/>
                </a:solidFill>
                <a:latin typeface="Calibri"/>
              </a:rPr>
              <a:t>Disposition, priority,
rationale,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2308" y="2267712"/>
            <a:ext cx="187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7A8C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28048" y="1901952"/>
            <a:ext cx="1993392" cy="1005840"/>
          </a:xfrm>
          <a:prstGeom prst="roundRect">
            <a:avLst>
              <a:gd name="adj" fmla="val 8500"/>
            </a:avLst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0928" y="2057400"/>
            <a:ext cx="162763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5   Shortlist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B8C6D2"/>
                </a:solidFill>
                <a:latin typeface="Calibri"/>
              </a:rPr>
              <a:t>11 no-action published,
9 rows to argue about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218688"/>
            <a:ext cx="5577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WHAT RUNS TODAY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83864"/>
            <a:ext cx="5577840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39312"/>
            <a:ext cx="5577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The engine scores a workbook from the command line. </a:t>
            </a:r>
            <a:r>
              <a:rPr sz="1350" b="0">
                <a:solidFill>
                  <a:srgbClr val="44576D"/>
                </a:solidFill>
                <a:latin typeface="Calibri"/>
              </a:rPr>
              <a:t>One dependency — openpyxl — and no build step.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It writes a 9-sheet analysis workbook: </a:t>
            </a:r>
            <a:r>
              <a:rPr sz="1350" b="0">
                <a:solidFill>
                  <a:srgbClr val="44576D"/>
                </a:solidFill>
                <a:latin typeface="Calibri"/>
              </a:rPr>
              <a:t>dispositions, overlap clusters, savings, agreement against the client's own labels, assumptions and sanity checks.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Every row explains itself — </a:t>
            </a:r>
            <a:r>
              <a:rPr sz="1350" b="0">
                <a:solidFill>
                  <a:srgbClr val="44576D"/>
                </a:solidFill>
                <a:latin typeface="Calibri"/>
              </a:rPr>
              <a:t>the pass/fail key in words, the input that drove each dimension, the successor it folds into, and the evidence gap behind its confidence flag.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Confidence is reported, not assumed: </a:t>
            </a:r>
            <a:r>
              <a:rPr sz="1350" b="0">
                <a:solidFill>
                  <a:srgbClr val="44576D"/>
                </a:solidFill>
                <a:latin typeface="Calibri"/>
              </a:rPr>
              <a:t>17 rows high, 2 medium, 1 held as needs validation rather than given a recommendation.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3218688"/>
            <a:ext cx="46936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THE WEB UI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9712" y="3483864"/>
            <a:ext cx="4693615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3639312"/>
            <a:ext cx="469361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1F7A8C"/>
                </a:solidFill>
                <a:latin typeface="Calibri"/>
              </a:rPr>
              <a:t>hack-team-12.vercel.app </a:t>
            </a:r>
            <a:r>
              <a:rPr sz="1350" b="0">
                <a:solidFill>
                  <a:srgbClr val="44576D"/>
                </a:solidFill>
                <a:latin typeface="Calibri"/>
              </a:rPr>
              <a:t>— three views: executive overview, rationalization workbench, and decision detail for one application.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350" b="1">
                <a:solidFill>
                  <a:srgbClr val="0F2438"/>
                </a:solidFill>
                <a:latin typeface="Calibri"/>
              </a:rPr>
              <a:t>It is a wireframe on illustrative data. </a:t>
            </a:r>
            <a:r>
              <a:rPr sz="1350" b="0">
                <a:solidFill>
                  <a:srgbClr val="44576D"/>
                </a:solidFill>
                <a:latin typeface="Calibri"/>
              </a:rPr>
              <a:t>Navigation, cluster review, evidence selection and the analyze action work; upload and export are deliberately inert. The scored numbers come from the engine, not the page.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39712" y="5266944"/>
            <a:ext cx="4693615" cy="859536"/>
          </a:xfrm>
          <a:prstGeom prst="roundRect">
            <a:avLst>
              <a:gd name="adj" fmla="val 5500"/>
            </a:avLst>
          </a:prstGeom>
          <a:solidFill>
            <a:srgbClr val="F1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39712" y="5413248"/>
            <a:ext cx="50292" cy="566927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50607" y="5431536"/>
            <a:ext cx="4126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2438"/>
                </a:solidFill>
                <a:latin typeface="Calibri"/>
              </a:rPr>
              <a:t>20 → 6 → 9</a:t>
            </a:r>
          </a:p>
          <a:p>
            <a:pPr algn="l">
              <a:lnSpc>
                <a:spcPct val="118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576D"/>
                </a:solidFill>
                <a:latin typeface="Calibri"/>
              </a:rPr>
              <a:t>20 applications, 6 overlap clusters, 9 rows that need a human.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144768"/>
            <a:ext cx="10874959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291072"/>
            <a:ext cx="83603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C8A9B"/>
                </a:solidFill>
                <a:latin typeface="Calibri"/>
              </a:rPr>
              <a:t>Engine and run: engine/score_northstar_v3.py  ·  output: data/northstar/Northstar-Disposition-Analysis-v3.xlsx  ·  UI source: src/apprat-ai-wireframe-v2.html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5887" y="6291072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A9B"/>
                </a:solidFill>
                <a:latin typeface="Calibri"/>
              </a:rPr>
              <a:t>AdvisAR  ·  Demo  ·  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566928" cy="50292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C8A9B"/>
                </a:solidFill>
                <a:latin typeface="Calibri"/>
              </a:rPr>
              <a:t>IMPACT · BUSINESS VALUE AND PATH TO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59536"/>
            <a:ext cx="1087495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2438"/>
                </a:solidFill>
                <a:latin typeface="Calibri"/>
              </a:rPr>
              <a:t>$5.30M net in year one — and a repeatable offering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81328"/>
            <a:ext cx="10874959" cy="1170432"/>
          </a:xfrm>
          <a:prstGeom prst="roundRect">
            <a:avLst>
              <a:gd name="adj" fmla="val 5000"/>
            </a:avLst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45920"/>
            <a:ext cx="50292" cy="841248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664208"/>
            <a:ext cx="274320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$5.30M</a:t>
            </a:r>
          </a:p>
          <a:p>
            <a:pPr algn="l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B8C6D2"/>
                </a:solidFill>
                <a:latin typeface="Calibri"/>
              </a:rPr>
              <a:t>net first-year benefit, Northstar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700784"/>
            <a:ext cx="1662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$9.15M</a:t>
            </a:r>
          </a:p>
          <a:p>
            <a:pPr algn="l"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A8B8C6"/>
                </a:solidFill>
                <a:latin typeface="Calibri"/>
              </a:rPr>
              <a:t>gross annual avoidable
— recurs from year two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95111" y="1755648"/>
            <a:ext cx="7315" cy="621792"/>
          </a:xfrm>
          <a:prstGeom prst="rect">
            <a:avLst/>
          </a:prstGeom>
          <a:solidFill>
            <a:srgbClr val="2C4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9703" y="1700784"/>
            <a:ext cx="1662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$3.85M</a:t>
            </a:r>
          </a:p>
          <a:p>
            <a:pPr algn="l"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A8B8C6"/>
                </a:solidFill>
                <a:latin typeface="Calibri"/>
              </a:rPr>
              <a:t>one-time transition cost
netted out (42% of gross)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77175" y="1755648"/>
            <a:ext cx="7315" cy="621792"/>
          </a:xfrm>
          <a:prstGeom prst="rect">
            <a:avLst/>
          </a:prstGeom>
          <a:solidFill>
            <a:srgbClr val="2C4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1767" y="1700784"/>
            <a:ext cx="1662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$4.93M</a:t>
            </a:r>
          </a:p>
          <a:p>
            <a:pPr algn="l"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A8B8C6"/>
                </a:solidFill>
                <a:latin typeface="Calibri"/>
              </a:rPr>
              <a:t>of the net rated safe;
$0.37M held as potential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59239" y="1755648"/>
            <a:ext cx="7315" cy="621792"/>
          </a:xfrm>
          <a:prstGeom prst="rect">
            <a:avLst/>
          </a:prstGeom>
          <a:solidFill>
            <a:srgbClr val="2C4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3831" y="1700784"/>
            <a:ext cx="1662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$43.25M</a:t>
            </a:r>
          </a:p>
          <a:p>
            <a:pPr algn="l"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A8B8C6"/>
                </a:solidFill>
                <a:latin typeface="Calibri"/>
              </a:rPr>
              <a:t>portfolio run-rate the
savings come 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926080"/>
            <a:ext cx="335066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WHAT CHANGES OPERATIONALLY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191256"/>
            <a:ext cx="3350666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346704"/>
            <a:ext cx="335066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No-action outcomes get published, </a:t>
            </a:r>
            <a:r>
              <a:rPr sz="1250" b="0">
                <a:solidFill>
                  <a:srgbClr val="44576D"/>
                </a:solidFill>
                <a:latin typeface="Calibri"/>
              </a:rPr>
              <a:t>with a route to object — not a meeting. Eleven of Northstar's twenty need no further conversation.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Only the contested minority </a:t>
            </a:r>
            <a:r>
              <a:rPr sz="1250" b="0">
                <a:solidFill>
                  <a:srgbClr val="44576D"/>
                </a:solidFill>
                <a:latin typeface="Calibri"/>
              </a:rPr>
              <a:t>— 9 of 20 — gets the full seven-step treatment, so scarce facilitation goes where it changes an answer.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Arguments start at the evidence, </a:t>
            </a:r>
            <a:r>
              <a:rPr sz="1250" b="0">
                <a:solidFill>
                  <a:srgbClr val="44576D"/>
                </a:solidFill>
                <a:latin typeface="Calibri"/>
              </a:rPr>
              <a:t>because every row already carries its rationale and its confidence.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0514" y="2926080"/>
            <a:ext cx="335066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WHY IT IS REPEATABLE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0514" y="3191256"/>
            <a:ext cx="3350666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0514" y="3346704"/>
            <a:ext cx="335066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The model is portfolio-agnostic. </a:t>
            </a:r>
            <a:r>
              <a:rPr sz="1250" b="0">
                <a:solidFill>
                  <a:srgbClr val="44576D"/>
                </a:solidFill>
                <a:latin typeface="Calibri"/>
              </a:rPr>
              <a:t>The engine was built against a different, independently generated 20-application portfolio; Northstar was built separately and scored through the same code with no changes.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Nothing sector-specific is hard-coded. </a:t>
            </a:r>
            <a:r>
              <a:rPr sz="1250" b="0">
                <a:solidFill>
                  <a:srgbClr val="44576D"/>
                </a:solidFill>
                <a:latin typeface="Calibri"/>
              </a:rPr>
              <a:t>Thresholds, weights and all 16 table rows are configuration, so a new sector is a re-tune, not a rebuild.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So it drops into any Aberdeen engagement, </a:t>
            </a:r>
            <a:r>
              <a:rPr sz="1250" b="0">
                <a:solidFill>
                  <a:srgbClr val="44576D"/>
                </a:solidFill>
                <a:latin typeface="Calibri"/>
              </a:rPr>
              <a:t>healthcare or not, as a repeatable offering rather than a one-off analysis.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2926080"/>
            <a:ext cx="335066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7A8C"/>
                </a:solidFill>
                <a:latin typeface="Calibri"/>
              </a:rPr>
              <a:t>WHAT'S NEXT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2660" y="3191256"/>
            <a:ext cx="3350666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2660" y="3346704"/>
            <a:ext cx="335066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Source a real peer cost benchmark. </a:t>
            </a:r>
            <a:r>
              <a:rPr sz="1250" b="0">
                <a:solidFill>
                  <a:srgbClr val="44576D"/>
                </a:solidFill>
                <a:latin typeface="Calibri"/>
              </a:rPr>
              <a:t>Cost per user against peers is the most influential input in the cost dimension and is modelled from the portfolio itself, not measured. A live engagement needs a real feed.</a:t>
            </a:r>
          </a:p>
          <a:p>
            <a:pPr marL="182880" indent="-182880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  <a:buClr>
                <a:srgbClr val="1F7A8C"/>
              </a:buClr>
              <a:buFont typeface="Arial"/>
              <a:buChar char="▪"/>
            </a:pPr>
            <a:r>
              <a:rPr sz="1250" b="1">
                <a:solidFill>
                  <a:srgbClr val="0F2438"/>
                </a:solidFill>
                <a:latin typeface="Calibri"/>
              </a:rPr>
              <a:t>Close the derived-column pipeline. </a:t>
            </a:r>
            <a:r>
              <a:rPr sz="1250" b="0">
                <a:solidFill>
                  <a:srgbClr val="44576D"/>
                </a:solidFill>
                <a:latin typeface="Calibri"/>
              </a:rPr>
              <a:t>Of 68 derived columns, 31 are still authored rather than computed. The scoring is sound; the pipeline in front of it is not finished.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144768"/>
            <a:ext cx="10874959" cy="10058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291072"/>
            <a:ext cx="83603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C8A9B"/>
                </a:solidFill>
                <a:latin typeface="Calibri"/>
              </a:rPr>
              <a:t>Northstar figures: Northstar-Disposition-Analysis-v3.xlsx, Savings sheet. The second portfolio referenced above is a different, separately built 20-application dataset ($22.06M run-rate, $5.82M net) and is not blended into any figure on this slide.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5887" y="6291072"/>
            <a:ext cx="2377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C8A9B"/>
                </a:solidFill>
                <a:latin typeface="Calibri"/>
              </a:rPr>
              <a:t>AdvisAR  ·  Impact  ·  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